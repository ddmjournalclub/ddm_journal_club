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324" r:id="rId2"/>
    <p:sldId id="309" r:id="rId3"/>
    <p:sldId id="257" r:id="rId4"/>
    <p:sldId id="258" r:id="rId5"/>
    <p:sldId id="265" r:id="rId6"/>
    <p:sldId id="266" r:id="rId7"/>
    <p:sldId id="338" r:id="rId8"/>
    <p:sldId id="335" r:id="rId9"/>
    <p:sldId id="262" r:id="rId10"/>
    <p:sldId id="332" r:id="rId11"/>
    <p:sldId id="263" r:id="rId12"/>
    <p:sldId id="325" r:id="rId13"/>
    <p:sldId id="330" r:id="rId14"/>
    <p:sldId id="268" r:id="rId15"/>
    <p:sldId id="331" r:id="rId16"/>
    <p:sldId id="264" r:id="rId17"/>
    <p:sldId id="327" r:id="rId18"/>
    <p:sldId id="329" r:id="rId19"/>
    <p:sldId id="267" r:id="rId20"/>
    <p:sldId id="269" r:id="rId21"/>
    <p:sldId id="270" r:id="rId22"/>
    <p:sldId id="339" r:id="rId23"/>
    <p:sldId id="273" r:id="rId24"/>
    <p:sldId id="274" r:id="rId25"/>
    <p:sldId id="271" r:id="rId26"/>
    <p:sldId id="278" r:id="rId27"/>
    <p:sldId id="275" r:id="rId28"/>
    <p:sldId id="276" r:id="rId29"/>
    <p:sldId id="279" r:id="rId30"/>
    <p:sldId id="280" r:id="rId31"/>
    <p:sldId id="281" r:id="rId32"/>
    <p:sldId id="341" r:id="rId33"/>
    <p:sldId id="342" r:id="rId34"/>
    <p:sldId id="284" r:id="rId35"/>
    <p:sldId id="285" r:id="rId36"/>
    <p:sldId id="286" r:id="rId37"/>
    <p:sldId id="287" r:id="rId38"/>
    <p:sldId id="336" r:id="rId39"/>
    <p:sldId id="337" r:id="rId40"/>
    <p:sldId id="288" r:id="rId41"/>
    <p:sldId id="290" r:id="rId42"/>
    <p:sldId id="289" r:id="rId43"/>
    <p:sldId id="291" r:id="rId44"/>
    <p:sldId id="308" r:id="rId45"/>
    <p:sldId id="340" r:id="rId46"/>
    <p:sldId id="292" r:id="rId47"/>
    <p:sldId id="323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34" r:id="rId60"/>
    <p:sldId id="333" r:id="rId61"/>
    <p:sldId id="304" r:id="rId62"/>
    <p:sldId id="305" r:id="rId63"/>
    <p:sldId id="306" r:id="rId64"/>
    <p:sldId id="307" r:id="rId65"/>
    <p:sldId id="311" r:id="rId66"/>
    <p:sldId id="315" r:id="rId67"/>
    <p:sldId id="312" r:id="rId68"/>
    <p:sldId id="313" r:id="rId69"/>
    <p:sldId id="316" r:id="rId70"/>
    <p:sldId id="318" r:id="rId71"/>
    <p:sldId id="320" r:id="rId72"/>
    <p:sldId id="317" r:id="rId73"/>
    <p:sldId id="321" r:id="rId74"/>
    <p:sldId id="319" r:id="rId75"/>
    <p:sldId id="322" r:id="rId76"/>
    <p:sldId id="326" r:id="rId7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3C2C3-3709-4F3D-B66D-732E33E02789}" v="14" dt="2022-08-14T23:17:00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0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qian Guo" userId="d3f00d47ffb4e29d" providerId="LiveId" clId="{CB93C2C3-3709-4F3D-B66D-732E33E02789}"/>
    <pc:docChg chg="custSel addSld modSld">
      <pc:chgData name="Mingqian Guo" userId="d3f00d47ffb4e29d" providerId="LiveId" clId="{CB93C2C3-3709-4F3D-B66D-732E33E02789}" dt="2022-08-14T23:17:14.610" v="211" actId="1076"/>
      <pc:docMkLst>
        <pc:docMk/>
      </pc:docMkLst>
      <pc:sldChg chg="addSp delSp modSp mod">
        <pc:chgData name="Mingqian Guo" userId="d3f00d47ffb4e29d" providerId="LiveId" clId="{CB93C2C3-3709-4F3D-B66D-732E33E02789}" dt="2022-08-14T23:15:26.636" v="188" actId="478"/>
        <pc:sldMkLst>
          <pc:docMk/>
          <pc:sldMk cId="4241996683" sldId="281"/>
        </pc:sldMkLst>
        <pc:spChg chg="add del mod">
          <ac:chgData name="Mingqian Guo" userId="d3f00d47ffb4e29d" providerId="LiveId" clId="{CB93C2C3-3709-4F3D-B66D-732E33E02789}" dt="2022-08-14T23:15:20.999" v="183" actId="478"/>
          <ac:spMkLst>
            <pc:docMk/>
            <pc:sldMk cId="4241996683" sldId="281"/>
            <ac:spMk id="6" creationId="{FFDF3EB3-D1B3-2113-616C-9F3A0599F916}"/>
          </ac:spMkLst>
        </pc:spChg>
        <pc:spChg chg="add del mod">
          <ac:chgData name="Mingqian Guo" userId="d3f00d47ffb4e29d" providerId="LiveId" clId="{CB93C2C3-3709-4F3D-B66D-732E33E02789}" dt="2022-08-14T23:15:26.636" v="188" actId="478"/>
          <ac:spMkLst>
            <pc:docMk/>
            <pc:sldMk cId="4241996683" sldId="281"/>
            <ac:spMk id="14" creationId="{716EB53C-F62E-3E67-CBD9-35C2CD8D8882}"/>
          </ac:spMkLst>
        </pc:spChg>
        <pc:cxnChg chg="add del mod">
          <ac:chgData name="Mingqian Guo" userId="d3f00d47ffb4e29d" providerId="LiveId" clId="{CB93C2C3-3709-4F3D-B66D-732E33E02789}" dt="2022-08-14T23:15:21.892" v="184" actId="478"/>
          <ac:cxnSpMkLst>
            <pc:docMk/>
            <pc:sldMk cId="4241996683" sldId="281"/>
            <ac:cxnSpMk id="5" creationId="{D6277FC4-83A1-4A56-ECC9-24E0176F41AD}"/>
          </ac:cxnSpMkLst>
        </pc:cxnChg>
        <pc:cxnChg chg="add del">
          <ac:chgData name="Mingqian Guo" userId="d3f00d47ffb4e29d" providerId="LiveId" clId="{CB93C2C3-3709-4F3D-B66D-732E33E02789}" dt="2022-08-14T23:15:23.648" v="185" actId="478"/>
          <ac:cxnSpMkLst>
            <pc:docMk/>
            <pc:sldMk cId="4241996683" sldId="281"/>
            <ac:cxnSpMk id="9" creationId="{A2185CB0-7853-0E01-8D66-F35524A191E4}"/>
          </ac:cxnSpMkLst>
        </pc:cxnChg>
        <pc:cxnChg chg="add del">
          <ac:chgData name="Mingqian Guo" userId="d3f00d47ffb4e29d" providerId="LiveId" clId="{CB93C2C3-3709-4F3D-B66D-732E33E02789}" dt="2022-08-14T23:15:24.566" v="186" actId="478"/>
          <ac:cxnSpMkLst>
            <pc:docMk/>
            <pc:sldMk cId="4241996683" sldId="281"/>
            <ac:cxnSpMk id="11" creationId="{F629EF96-8D5A-6F1D-42D1-63E6BA169E1C}"/>
          </ac:cxnSpMkLst>
        </pc:cxnChg>
        <pc:cxnChg chg="add del">
          <ac:chgData name="Mingqian Guo" userId="d3f00d47ffb4e29d" providerId="LiveId" clId="{CB93C2C3-3709-4F3D-B66D-732E33E02789}" dt="2022-08-14T23:15:25.593" v="187" actId="478"/>
          <ac:cxnSpMkLst>
            <pc:docMk/>
            <pc:sldMk cId="4241996683" sldId="281"/>
            <ac:cxnSpMk id="13" creationId="{1CB42120-FD80-ABCB-D699-B3311B4E4DE3}"/>
          </ac:cxnSpMkLst>
        </pc:cxnChg>
      </pc:sldChg>
      <pc:sldChg chg="modSp mod">
        <pc:chgData name="Mingqian Guo" userId="d3f00d47ffb4e29d" providerId="LiveId" clId="{CB93C2C3-3709-4F3D-B66D-732E33E02789}" dt="2022-08-14T22:36:27.296" v="132" actId="20577"/>
        <pc:sldMkLst>
          <pc:docMk/>
          <pc:sldMk cId="3401012983" sldId="308"/>
        </pc:sldMkLst>
        <pc:spChg chg="mod">
          <ac:chgData name="Mingqian Guo" userId="d3f00d47ffb4e29d" providerId="LiveId" clId="{CB93C2C3-3709-4F3D-B66D-732E33E02789}" dt="2022-08-14T22:36:27.296" v="132" actId="20577"/>
          <ac:spMkLst>
            <pc:docMk/>
            <pc:sldMk cId="3401012983" sldId="308"/>
            <ac:spMk id="4" creationId="{553D982C-E462-B48B-C04E-DDB0C07BAEB7}"/>
          </ac:spMkLst>
        </pc:spChg>
      </pc:sldChg>
      <pc:sldChg chg="addSp modSp add mod">
        <pc:chgData name="Mingqian Guo" userId="d3f00d47ffb4e29d" providerId="LiveId" clId="{CB93C2C3-3709-4F3D-B66D-732E33E02789}" dt="2022-08-14T23:17:14.610" v="211" actId="1076"/>
        <pc:sldMkLst>
          <pc:docMk/>
          <pc:sldMk cId="1693255483" sldId="340"/>
        </pc:sldMkLst>
        <pc:spChg chg="mod">
          <ac:chgData name="Mingqian Guo" userId="d3f00d47ffb4e29d" providerId="LiveId" clId="{CB93C2C3-3709-4F3D-B66D-732E33E02789}" dt="2022-08-14T23:09:45.744" v="136" actId="20577"/>
          <ac:spMkLst>
            <pc:docMk/>
            <pc:sldMk cId="1693255483" sldId="340"/>
            <ac:spMk id="4" creationId="{553D982C-E462-B48B-C04E-DDB0C07BAEB7}"/>
          </ac:spMkLst>
        </pc:spChg>
        <pc:spChg chg="add mod">
          <ac:chgData name="Mingqian Guo" userId="d3f00d47ffb4e29d" providerId="LiveId" clId="{CB93C2C3-3709-4F3D-B66D-732E33E02789}" dt="2022-08-14T23:17:14.610" v="211" actId="1076"/>
          <ac:spMkLst>
            <pc:docMk/>
            <pc:sldMk cId="1693255483" sldId="340"/>
            <ac:spMk id="5" creationId="{E024AD88-F7B5-C306-4043-944BCF6DCA12}"/>
          </ac:spMkLst>
        </pc:spChg>
        <pc:picChg chg="add mod">
          <ac:chgData name="Mingqian Guo" userId="d3f00d47ffb4e29d" providerId="LiveId" clId="{CB93C2C3-3709-4F3D-B66D-732E33E02789}" dt="2022-08-14T23:10:55.146" v="144" actId="14100"/>
          <ac:picMkLst>
            <pc:docMk/>
            <pc:sldMk cId="1693255483" sldId="340"/>
            <ac:picMk id="3" creationId="{F21FC46C-8ECC-331A-4343-8BBD4507FCDB}"/>
          </ac:picMkLst>
        </pc:picChg>
      </pc:sldChg>
      <pc:sldChg chg="add">
        <pc:chgData name="Mingqian Guo" userId="d3f00d47ffb4e29d" providerId="LiveId" clId="{CB93C2C3-3709-4F3D-B66D-732E33E02789}" dt="2022-08-14T23:15:02.366" v="172"/>
        <pc:sldMkLst>
          <pc:docMk/>
          <pc:sldMk cId="3428809871" sldId="341"/>
        </pc:sldMkLst>
      </pc:sldChg>
      <pc:sldChg chg="modSp add mod">
        <pc:chgData name="Mingqian Guo" userId="d3f00d47ffb4e29d" providerId="LiveId" clId="{CB93C2C3-3709-4F3D-B66D-732E33E02789}" dt="2022-08-14T23:15:13.871" v="182" actId="20577"/>
        <pc:sldMkLst>
          <pc:docMk/>
          <pc:sldMk cId="391592977" sldId="342"/>
        </pc:sldMkLst>
        <pc:spChg chg="mod">
          <ac:chgData name="Mingqian Guo" userId="d3f00d47ffb4e29d" providerId="LiveId" clId="{CB93C2C3-3709-4F3D-B66D-732E33E02789}" dt="2022-08-14T23:15:08.641" v="179" actId="20577"/>
          <ac:spMkLst>
            <pc:docMk/>
            <pc:sldMk cId="391592977" sldId="342"/>
            <ac:spMk id="6" creationId="{FFDF3EB3-D1B3-2113-616C-9F3A0599F916}"/>
          </ac:spMkLst>
        </pc:spChg>
        <pc:spChg chg="mod">
          <ac:chgData name="Mingqian Guo" userId="d3f00d47ffb4e29d" providerId="LiveId" clId="{CB93C2C3-3709-4F3D-B66D-732E33E02789}" dt="2022-08-14T23:15:13.871" v="182" actId="20577"/>
          <ac:spMkLst>
            <pc:docMk/>
            <pc:sldMk cId="391592977" sldId="342"/>
            <ac:spMk id="14" creationId="{716EB53C-F62E-3E67-CBD9-35C2CD8D88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A9467-7F14-4A15-A2C7-38C597EB4BE0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CCF56-8B94-40CC-8571-89D23E620D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19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D48C8-93A7-EEBC-F5B7-02F85E396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5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CA331C-10C3-AE33-3658-2AE33E782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B81F5-F871-FB1D-864C-92A06454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32BAF-46BE-AEC4-F264-292EEF02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EE275-CB44-7EA5-8B6F-91DFC74D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E0BDA-FB5F-BB0F-DA61-FB0B5CCE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313D1-6E8D-6F26-E81D-DEE3A255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BF7CB2-970F-40F3-2FE5-0DD4815E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A514C-6C95-606D-4B9E-C108A8BB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6CCC3-A916-F454-1C0D-806AA6CB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98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1A407-1150-B557-3B1F-CCB048CD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FBE74E-26E3-523C-D171-729DFBBA2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A850D-6C31-D259-9E79-AC1B9616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1C0629-5ED1-A708-DEC0-609D09B6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1BF4C-57EE-9CBB-576E-812C5061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452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4386D-5E2F-A7ED-527C-E2A1FEA1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6E89F3-A64D-414A-D475-D2046C2A8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5CB3F3-5689-9383-2DE1-A5452E0D7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37A922-726E-7779-8D77-ABFD28CE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B47DB9-B1EF-091D-61E5-5011AAAC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ECB2C-64F6-96D8-F1D1-FDBAC0CE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5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64AD1-3FEB-C0DD-7313-A5D5D652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0F4C1-609A-29FC-5CAE-06D571BC2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1FD20C-80B8-A79E-6346-36E31B2E6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1C91B6-4783-D212-9945-EAF4EC1C7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7B25D3-6B16-D270-E4B8-28ACBE3B6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5D81CA-1525-8EB4-8E1E-515EDFAC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B1F1C-A03D-776A-88D6-A3A91E11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110B40-1521-3592-38A6-08E4F25B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8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05870-B367-F679-3C11-CC5DD151D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68B262-99CD-FB5A-982E-4D6C0F2E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D39488-607D-CC38-C718-87F08A5E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306484-16C0-F46F-421C-16F47D20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11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B4D92A-272B-B2FB-1C44-B5F48C85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3214DD-C144-DB70-78F6-3813E6AE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6EAB4B-1DAE-BD80-2204-274A5608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25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3DD18-9587-9C43-4975-6D11F1B4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8D9F6-724B-7BDF-0AD2-53CA8ACD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C99B7C-B77B-2759-5D6C-9D3754329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F34BF9-1956-0274-60D6-988A29D7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62BA71-2693-E40E-5DA7-49FE4F25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BE314D-FE48-197C-9C64-9397B09A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97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F159F-B85C-8A16-6ADB-B1F6E200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8A4E92-AD12-2222-B321-18FD0FEC2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65605B-6C65-56A2-743F-EB596ACB6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1E0078-2320-A69C-5DD3-B726D354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1EE1F0-3F59-A5C6-BFD1-1787C7A6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2DEA7E-4884-F47B-B926-A019C2A2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97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97B19-E2E8-B1F3-DC4D-C0CD0190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FBC850-332F-F992-E265-6B5FD9A77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14A61-9973-7BB0-F69D-A283015B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2B9B7-B7CC-776A-6B8E-B5FEECFA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7A95E-F59C-8873-893D-325DB3DB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34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E47CE8-9BF2-D0D3-019C-FAE9AB76D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4BC63E-5FBA-BEB2-5237-B36CC2BF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511A30-17BE-10AC-982C-EAC7BD9E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71A3D-CCA9-2AD7-8D0A-BF04C77A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48DA46-7D6A-12CF-BABC-A4D32FEB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37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66A1349-BE1C-F4F3-E1B3-43FA152B3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43D451-827F-F68E-A552-75974732B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E8846D-5DCA-36B9-70A8-C68D71FB3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BD096-791E-4073-8DA0-9051009EE504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72535-2F16-84BB-66B6-35DD1752C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DAECD-5651-895E-EE0F-E8E7765A7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6A171-AD19-41C2-9ED8-8DB5467D4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8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3268511" y="974055"/>
            <a:ext cx="1025255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70320BAF-65B2-97A1-AE81-D1BEB61840AA}"/>
              </a:ext>
            </a:extLst>
          </p:cNvPr>
          <p:cNvSpPr/>
          <p:nvPr/>
        </p:nvSpPr>
        <p:spPr>
          <a:xfrm>
            <a:off x="1627601" y="1218921"/>
            <a:ext cx="1296444" cy="4371583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94E34B-8E15-1927-3EAB-BDD944702BA0}"/>
              </a:ext>
            </a:extLst>
          </p:cNvPr>
          <p:cNvSpPr txBox="1"/>
          <p:nvPr/>
        </p:nvSpPr>
        <p:spPr>
          <a:xfrm>
            <a:off x="3312961" y="2999705"/>
            <a:ext cx="1025255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ABC + DL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9B217D-AFBC-AF07-9D29-E2C91C6A011F}"/>
              </a:ext>
            </a:extLst>
          </p:cNvPr>
          <p:cNvSpPr txBox="1"/>
          <p:nvPr/>
        </p:nvSpPr>
        <p:spPr>
          <a:xfrm>
            <a:off x="3268511" y="5165229"/>
            <a:ext cx="1025255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CNN/LAN/NLE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6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Models with analytical solutions: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T-test , Linear regression(Gaussian distribution)...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3836B58-6264-A685-9666-AB2D126D295F}"/>
                  </a:ext>
                </a:extLst>
              </p:cNvPr>
              <p:cNvSpPr txBox="1"/>
              <p:nvPr/>
            </p:nvSpPr>
            <p:spPr>
              <a:xfrm>
                <a:off x="1856983" y="3485367"/>
                <a:ext cx="3978461" cy="815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sz="4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3836B58-6264-A685-9666-AB2D126D2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983" y="3485367"/>
                <a:ext cx="3978461" cy="8150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08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494778"/>
                <a:ext cx="10252553" cy="5152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Model-fitting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Models with Likelihood function: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Logistic/Logit regression(Gumbel CDF)...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sz="4000" b="0" dirty="0"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494778"/>
                <a:ext cx="10252553" cy="5152308"/>
              </a:xfrm>
              <a:prstGeom prst="rect">
                <a:avLst/>
              </a:prstGeom>
              <a:blipFill>
                <a:blip r:embed="rId2"/>
                <a:stretch>
                  <a:fillRect l="-1844" t="-1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27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26718" y="444674"/>
                <a:ext cx="10252553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Model-fitting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Models without Likelihood function: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Probit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regression(Gaussian CDF)...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US" altLang="zh-CN" sz="4000" b="0" dirty="0"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</m:t>
                        </m:r>
                      </m:e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4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Φ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18" y="444674"/>
                <a:ext cx="10252553" cy="3539430"/>
              </a:xfrm>
              <a:prstGeom prst="rect">
                <a:avLst/>
              </a:prstGeom>
              <a:blipFill>
                <a:blip r:embed="rId2"/>
                <a:stretch>
                  <a:fillRect l="-1844" t="-2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16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A464D65-CCF0-805A-8B4E-E02482ADAD62}"/>
              </a:ext>
            </a:extLst>
          </p:cNvPr>
          <p:cNvSpPr/>
          <p:nvPr/>
        </p:nvSpPr>
        <p:spPr>
          <a:xfrm>
            <a:off x="3369501" y="2887249"/>
            <a:ext cx="6231699" cy="315655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AACE3-21AD-8EA0-6B71-4DF9FDF5B624}"/>
              </a:ext>
            </a:extLst>
          </p:cNvPr>
          <p:cNvSpPr txBox="1"/>
          <p:nvPr/>
        </p:nvSpPr>
        <p:spPr>
          <a:xfrm>
            <a:off x="5260931" y="4960307"/>
            <a:ext cx="2761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Models we can simulate</a:t>
            </a:r>
            <a:endParaRPr lang="zh-CN" altLang="en-US" i="1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B2B6F4FE-23A6-1ABD-32E0-7BA812D2AD7A}"/>
              </a:ext>
            </a:extLst>
          </p:cNvPr>
          <p:cNvSpPr/>
          <p:nvPr/>
        </p:nvSpPr>
        <p:spPr>
          <a:xfrm>
            <a:off x="4947781" y="4114800"/>
            <a:ext cx="36000" cy="3600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D85F867-91D2-C035-3DD6-556975151AC7}"/>
              </a:ext>
            </a:extLst>
          </p:cNvPr>
          <p:cNvCxnSpPr>
            <a:cxnSpLocks/>
          </p:cNvCxnSpPr>
          <p:nvPr/>
        </p:nvCxnSpPr>
        <p:spPr>
          <a:xfrm flipH="1" flipV="1">
            <a:off x="4289962" y="2593879"/>
            <a:ext cx="675819" cy="1520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0E43D14-A632-6B69-50A2-99D612DCE013}"/>
                  </a:ext>
                </a:extLst>
              </p:cNvPr>
              <p:cNvSpPr txBox="1"/>
              <p:nvPr/>
            </p:nvSpPr>
            <p:spPr>
              <a:xfrm>
                <a:off x="2342367" y="2037126"/>
                <a:ext cx="52108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Models have the likelihood function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0E43D14-A632-6B69-50A2-99D612DCE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367" y="2037126"/>
                <a:ext cx="5210828" cy="369332"/>
              </a:xfrm>
              <a:prstGeom prst="rect">
                <a:avLst/>
              </a:prstGeom>
              <a:blipFill>
                <a:blip r:embed="rId2"/>
                <a:stretch>
                  <a:fillRect l="-936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86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93457"/>
            <a:ext cx="1025255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Most SSMs have no likelihood function…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7B86E9-FC36-B3FE-D1B9-D576166FD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08" y="2817778"/>
            <a:ext cx="4635479" cy="30590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ABFB1AD-E881-878C-DB51-C481E80E90ED}"/>
              </a:ext>
            </a:extLst>
          </p:cNvPr>
          <p:cNvSpPr txBox="1"/>
          <p:nvPr/>
        </p:nvSpPr>
        <p:spPr>
          <a:xfrm>
            <a:off x="2198317" y="6115926"/>
            <a:ext cx="271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Hawkins et al., 2015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0872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93457"/>
            <a:ext cx="1025255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Most SSMs have no likelihood function…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7B86E9-FC36-B3FE-D1B9-D576166FD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08" y="2817778"/>
            <a:ext cx="4635479" cy="305904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ABFB1AD-E881-878C-DB51-C481E80E90ED}"/>
              </a:ext>
            </a:extLst>
          </p:cNvPr>
          <p:cNvSpPr txBox="1"/>
          <p:nvPr/>
        </p:nvSpPr>
        <p:spPr>
          <a:xfrm>
            <a:off x="2198317" y="6115926"/>
            <a:ext cx="271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Hawkins et al., 2015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64493C-C828-9F75-7EFB-3708A50A0C10}"/>
                  </a:ext>
                </a:extLst>
              </p:cNvPr>
              <p:cNvSpPr txBox="1"/>
              <p:nvPr/>
            </p:nvSpPr>
            <p:spPr>
              <a:xfrm>
                <a:off x="5940468" y="3660439"/>
                <a:ext cx="5239576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𝑅𝑒𝑤𝑎𝑟𝑑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764493C-C828-9F75-7EFB-3708A50A0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468" y="3660439"/>
                <a:ext cx="5239576" cy="9557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09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93457"/>
            <a:ext cx="1025255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Most SSMs have no likelihood function…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DDD56B-3AFB-32BA-97F6-9FEF64E6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38" y="2888494"/>
            <a:ext cx="10583573" cy="30726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9C846CD-F425-5B3F-7303-D28034C8D430}"/>
              </a:ext>
            </a:extLst>
          </p:cNvPr>
          <p:cNvSpPr txBox="1"/>
          <p:nvPr/>
        </p:nvSpPr>
        <p:spPr>
          <a:xfrm>
            <a:off x="6237961" y="4910492"/>
            <a:ext cx="377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Usher &amp; McClelland, 2001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330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87173"/>
            <a:ext cx="10252553" cy="552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SSMs without likelihood function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methods: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Step1:Define a summary statistics(Chi/G-square/K-S test/WLS)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Step2:Use black-box optimization algorithm(DE-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optim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/Simplex) to minimize the summary statistics.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10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0455" y="425885"/>
            <a:ext cx="10252553" cy="5529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SSMs without likelihood function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methods: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Step1:Define a summary statistics(Chi/G-square/K-S test/WLS)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Step2:Use black-box optimization algorithm(DE-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optim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/Simplex) to minimize the summary statistics.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E46C63-4256-8C4B-DD4C-8844FA0C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576" y="4950325"/>
            <a:ext cx="2130795" cy="7143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00E82B-722A-25F3-7935-3A15287F6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53" y="4773386"/>
            <a:ext cx="3839488" cy="178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7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6718" y="388307"/>
            <a:ext cx="10252553" cy="4790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SSMs without likelihood function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methods: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 special case: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PDA+MLE/Bayesian (Turner&amp;Sederberg,2014) : 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6A7AF6-3E81-DDB6-EE07-B320B719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193" y="4102974"/>
            <a:ext cx="41814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41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6718" y="375781"/>
            <a:ext cx="10252553" cy="4790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SSMs without likelihood function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methods: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 special case: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PDA+MLE/Bayesian (Turner&amp;Sederberg,2014) : 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DC401036-2919-3B1C-ECF5-E66EE9B16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27" y="3822526"/>
            <a:ext cx="3989539" cy="26596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DEF1FD-D0DD-4D66-5C94-C168651F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197" y="4411341"/>
            <a:ext cx="4513545" cy="106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94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0455" y="405015"/>
            <a:ext cx="10252553" cy="8114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SSMs without likelihood function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methods: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Summary statistics may not have the sufficiency to capture the needed information.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time cost of simulation is extremely high.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Impossible to use gradient-based optimization/sampling algorithm.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983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Model-fitting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An example with PDA+DE-MCMC</a:t>
                </a: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Simulation number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5×24×4000×2=19200000000.0=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</m:t>
                    </m:r>
                  </m:oMath>
                </a14:m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billion</a:t>
                </a: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4955203"/>
              </a:xfrm>
              <a:prstGeom prst="rect">
                <a:avLst/>
              </a:prstGeom>
              <a:blipFill>
                <a:blip r:embed="rId2"/>
                <a:stretch>
                  <a:fillRect l="-1844" t="-1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50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Model-fitting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An example with PDA+DE-MCMC</a:t>
                </a: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Simulation number =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5×24×4000×2=19200000000.0</m:t>
                    </m:r>
                  </m:oMath>
                </a14:m>
                <a:r>
                  <a:rPr lang="en-US" altLang="zh-CN" sz="28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</m:t>
                    </m:r>
                  </m:oMath>
                </a14:m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billion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4955203"/>
              </a:xfrm>
              <a:prstGeom prst="rect">
                <a:avLst/>
              </a:prstGeom>
              <a:blipFill>
                <a:blip r:embed="rId2"/>
                <a:stretch>
                  <a:fillRect l="-1844" t="-1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24DE0A93-0EA9-FDA8-F9FC-35E1C288FBE7}"/>
              </a:ext>
            </a:extLst>
          </p:cNvPr>
          <p:cNvSpPr txBox="1"/>
          <p:nvPr/>
        </p:nvSpPr>
        <p:spPr>
          <a:xfrm>
            <a:off x="6050071" y="2665677"/>
            <a:ext cx="112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Chain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B3C78A-3BAB-BF57-3B0B-264C382E1945}"/>
              </a:ext>
            </a:extLst>
          </p:cNvPr>
          <p:cNvSpPr txBox="1"/>
          <p:nvPr/>
        </p:nvSpPr>
        <p:spPr>
          <a:xfrm>
            <a:off x="7041715" y="2670245"/>
            <a:ext cx="112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Iteration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F9FA9A-3F1C-FECC-F962-305E8D031D81}"/>
              </a:ext>
            </a:extLst>
          </p:cNvPr>
          <p:cNvSpPr txBox="1"/>
          <p:nvPr/>
        </p:nvSpPr>
        <p:spPr>
          <a:xfrm>
            <a:off x="8189932" y="2674813"/>
            <a:ext cx="230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Likelihood ratio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636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 without likelihood function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Numerically solving the Fokker-Planck equation: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5FFF93-B090-EB1B-1DE0-673F0C72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67" y="3482235"/>
            <a:ext cx="5564517" cy="109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41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 without likelihood function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Numerically solving the Fokker-Planck equation: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Almost impossible to apply gradient-based optimization/sampling algorithm.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58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 without likelihood function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Numerically solving the Fokker-Planck equation: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Still requires lots of computation time.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633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Model-fitting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Fitting SSM without likelihood function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Numerical solving Fokker-Planck equation: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15D1A2-E1E9-8B2C-8CD4-247D017B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11" y="1232797"/>
            <a:ext cx="7939651" cy="56690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0C5B455-60B6-CA7B-88F7-768BD2E57CB8}"/>
              </a:ext>
            </a:extLst>
          </p:cNvPr>
          <p:cNvSpPr txBox="1"/>
          <p:nvPr/>
        </p:nvSpPr>
        <p:spPr>
          <a:xfrm>
            <a:off x="8693063" y="6115926"/>
            <a:ext cx="315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Shinn et al., 2020</a:t>
            </a:r>
            <a:endParaRPr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77EDA3C-1CBD-1881-3DEC-894A8056D4F7}"/>
              </a:ext>
            </a:extLst>
          </p:cNvPr>
          <p:cNvSpPr/>
          <p:nvPr/>
        </p:nvSpPr>
        <p:spPr>
          <a:xfrm>
            <a:off x="1929008" y="5561556"/>
            <a:ext cx="281836" cy="2567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7B6B4A0-D54D-A8A0-54DC-E267A307ABB8}"/>
              </a:ext>
            </a:extLst>
          </p:cNvPr>
          <p:cNvCxnSpPr/>
          <p:nvPr/>
        </p:nvCxnSpPr>
        <p:spPr>
          <a:xfrm flipV="1">
            <a:off x="2104373" y="1841326"/>
            <a:ext cx="958241" cy="37891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131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Possible solution: Combine DL with ABC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39F75D-F73B-E447-E73B-551673DC798A}"/>
              </a:ext>
            </a:extLst>
          </p:cNvPr>
          <p:cNvSpPr txBox="1"/>
          <p:nvPr/>
        </p:nvSpPr>
        <p:spPr>
          <a:xfrm>
            <a:off x="8800399" y="6376384"/>
            <a:ext cx="3071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Cranmer et al., 2020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D13FD89-8F30-AF00-77CA-BF95CEE87C13}"/>
              </a:ext>
            </a:extLst>
          </p:cNvPr>
          <p:cNvGrpSpPr/>
          <p:nvPr/>
        </p:nvGrpSpPr>
        <p:grpSpPr>
          <a:xfrm>
            <a:off x="320478" y="2340617"/>
            <a:ext cx="9341772" cy="4220433"/>
            <a:chOff x="750909" y="1769357"/>
            <a:chExt cx="9341772" cy="422043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C6746DE-EB74-B4E2-E743-6FB396FF4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5255" y="1769357"/>
              <a:ext cx="8967426" cy="391575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5F39324-0669-E6A3-C72A-4361E2B56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7744" y="2480152"/>
              <a:ext cx="276225" cy="202841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164D733-7D5C-5D7E-8A71-F98901602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7100" y="2501311"/>
              <a:ext cx="276225" cy="2007257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96972BE-8949-FD53-F81E-1521492A1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2184" y="2480152"/>
              <a:ext cx="276225" cy="2007257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F760203-8E56-5CBE-6E1C-7985F69F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909" y="5189690"/>
              <a:ext cx="857250" cy="8001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A4D5982-31E1-9DDC-67E2-773C1363E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28969" y="5189690"/>
              <a:ext cx="857250" cy="8001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AC58B77-A09C-92E6-2560-417AC6389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4878" y="5227082"/>
              <a:ext cx="394571" cy="5073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5855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Approximate Bayesian Computation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DL model approximates the likelihood function: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Ψ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LAN / SNLE/NLE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5447645"/>
              </a:xfrm>
              <a:prstGeom prst="rect">
                <a:avLst/>
              </a:prstGeom>
              <a:blipFill>
                <a:blip r:embed="rId2"/>
                <a:stretch>
                  <a:fillRect l="-1844" t="-1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387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Confusion of names: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NLE: Neural likelihood estimation.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SNLE: Sequential neural likelihood estimation.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MNLE: Mixture neural likelihood estimation.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10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07929" y="519830"/>
            <a:ext cx="10252553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DL model approximates the likelihood function: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More flexible(arbitrary prior distribution).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 be easily adapted to the hierarchical model.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Much faster than traditional ABC.</a:t>
            </a: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120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07929" y="450937"/>
            <a:ext cx="10252553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DL model approximates the likelihood function: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(arbitrary prior distribution).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 be easily adapted to the hierarchical model.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Much faster than traditional ABC(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sometimes even faster than analytical solution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917A02-9064-69D0-1BF6-5DA81051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318" y="4840071"/>
            <a:ext cx="5938411" cy="169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9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DL model approximates the likelihood function: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Inference stage is slower than the latter two methods.</a:t>
            </a:r>
          </a:p>
          <a:p>
            <a:pPr lvl="2">
              <a:lnSpc>
                <a:spcPct val="150000"/>
              </a:lnSpc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343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Approximate Bayesian Computation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DL model approximates the posterior parameter distribution 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Ψ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Bayes flow(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Radev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et al., 2020)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5447645"/>
              </a:xfrm>
              <a:prstGeom prst="rect">
                <a:avLst/>
              </a:prstGeom>
              <a:blipFill>
                <a:blip r:embed="rId2"/>
                <a:stretch>
                  <a:fillRect l="-1844" t="-1678" r="-1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992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DL model approximates the posterior parameter distribution: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Inference stage needs very little time(Super fast)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Provides full posterior parameter distribution.</a:t>
            </a: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460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Approximate Bayesian Computation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DL model approximates the posterior parameter distribution: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Hard to apply to the hierarchical model.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Cannot adjust prior distribution after the DL model is trained.</a:t>
            </a: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342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5695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Approximate Bayesian Computation</a:t>
                </a:r>
                <a:r>
                  <a:rPr lang="en-US" altLang="zh-CN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DL model approximates the likelihood ratio: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Ψ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∝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So far, no application in psychology/cognitive neuroscience.</a:t>
                </a: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5695213"/>
              </a:xfrm>
              <a:prstGeom prst="rect">
                <a:avLst/>
              </a:prstGeom>
              <a:blipFill>
                <a:blip r:embed="rId2"/>
                <a:stretch>
                  <a:fillRect l="-1844" t="-1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71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CNN + Heteroscedastic loss: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Loss function:</a:t>
            </a: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1F5AFE-8857-FEBB-8DC9-865A8C5EB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946" y="3706322"/>
            <a:ext cx="90773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6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61FB0B-0238-48DA-83F8-26FDD49D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07" y="1753161"/>
            <a:ext cx="7232823" cy="462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96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61FB0B-0238-48DA-83F8-26FDD49D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07" y="1753161"/>
            <a:ext cx="7232823" cy="4626703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6277FC4-83A1-4A56-ECC9-24E0176F41AD}"/>
              </a:ext>
            </a:extLst>
          </p:cNvPr>
          <p:cNvCxnSpPr>
            <a:cxnSpLocks/>
          </p:cNvCxnSpPr>
          <p:nvPr/>
        </p:nvCxnSpPr>
        <p:spPr>
          <a:xfrm flipV="1">
            <a:off x="2934447" y="2707341"/>
            <a:ext cx="1912471" cy="179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FDF3EB3-D1B3-2113-616C-9F3A0599F916}"/>
              </a:ext>
            </a:extLst>
          </p:cNvPr>
          <p:cNvSpPr txBox="1"/>
          <p:nvPr/>
        </p:nvSpPr>
        <p:spPr>
          <a:xfrm>
            <a:off x="4518693" y="2338009"/>
            <a:ext cx="141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Stride=1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2185CB0-7853-0E01-8D66-F35524A191E4}"/>
              </a:ext>
            </a:extLst>
          </p:cNvPr>
          <p:cNvCxnSpPr/>
          <p:nvPr/>
        </p:nvCxnSpPr>
        <p:spPr>
          <a:xfrm flipV="1">
            <a:off x="4303059" y="2593788"/>
            <a:ext cx="3042025" cy="171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629EF96-8D5A-6F1D-42D1-63E6BA169E1C}"/>
              </a:ext>
            </a:extLst>
          </p:cNvPr>
          <p:cNvCxnSpPr/>
          <p:nvPr/>
        </p:nvCxnSpPr>
        <p:spPr>
          <a:xfrm flipV="1">
            <a:off x="5940468" y="2650565"/>
            <a:ext cx="1404616" cy="136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CB42120-FD80-ABCB-D699-B3311B4E4DE3}"/>
              </a:ext>
            </a:extLst>
          </p:cNvPr>
          <p:cNvCxnSpPr/>
          <p:nvPr/>
        </p:nvCxnSpPr>
        <p:spPr>
          <a:xfrm flipV="1">
            <a:off x="6914776" y="2659529"/>
            <a:ext cx="475623" cy="1406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16EB53C-F62E-3E67-CBD9-35C2CD8D8882}"/>
              </a:ext>
            </a:extLst>
          </p:cNvPr>
          <p:cNvSpPr txBox="1"/>
          <p:nvPr/>
        </p:nvSpPr>
        <p:spPr>
          <a:xfrm>
            <a:off x="7542470" y="2354471"/>
            <a:ext cx="167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Stride=2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8809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61FB0B-0238-48DA-83F8-26FDD49D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07" y="1753161"/>
            <a:ext cx="7232823" cy="4626703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6277FC4-83A1-4A56-ECC9-24E0176F41AD}"/>
              </a:ext>
            </a:extLst>
          </p:cNvPr>
          <p:cNvCxnSpPr>
            <a:cxnSpLocks/>
          </p:cNvCxnSpPr>
          <p:nvPr/>
        </p:nvCxnSpPr>
        <p:spPr>
          <a:xfrm flipV="1">
            <a:off x="2934447" y="2707341"/>
            <a:ext cx="1912471" cy="179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FDF3EB3-D1B3-2113-616C-9F3A0599F916}"/>
              </a:ext>
            </a:extLst>
          </p:cNvPr>
          <p:cNvSpPr txBox="1"/>
          <p:nvPr/>
        </p:nvSpPr>
        <p:spPr>
          <a:xfrm>
            <a:off x="4518693" y="2338009"/>
            <a:ext cx="141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Kernel=1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2185CB0-7853-0E01-8D66-F35524A191E4}"/>
              </a:ext>
            </a:extLst>
          </p:cNvPr>
          <p:cNvCxnSpPr/>
          <p:nvPr/>
        </p:nvCxnSpPr>
        <p:spPr>
          <a:xfrm flipV="1">
            <a:off x="4303059" y="2593788"/>
            <a:ext cx="3042025" cy="171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629EF96-8D5A-6F1D-42D1-63E6BA169E1C}"/>
              </a:ext>
            </a:extLst>
          </p:cNvPr>
          <p:cNvCxnSpPr/>
          <p:nvPr/>
        </p:nvCxnSpPr>
        <p:spPr>
          <a:xfrm flipV="1">
            <a:off x="5940468" y="2650565"/>
            <a:ext cx="1404616" cy="1365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CB42120-FD80-ABCB-D699-B3311B4E4DE3}"/>
              </a:ext>
            </a:extLst>
          </p:cNvPr>
          <p:cNvCxnSpPr/>
          <p:nvPr/>
        </p:nvCxnSpPr>
        <p:spPr>
          <a:xfrm flipV="1">
            <a:off x="6914776" y="2659529"/>
            <a:ext cx="475623" cy="1406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16EB53C-F62E-3E67-CBD9-35C2CD8D8882}"/>
              </a:ext>
            </a:extLst>
          </p:cNvPr>
          <p:cNvSpPr txBox="1"/>
          <p:nvPr/>
        </p:nvSpPr>
        <p:spPr>
          <a:xfrm>
            <a:off x="7542470" y="2354471"/>
            <a:ext cx="167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Kernel =3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5929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recovery for LCA: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6D9E4E-D4EE-46BB-E993-D5A6680B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28" y="2528232"/>
            <a:ext cx="5696740" cy="38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36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82877" y="557408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recovery for LCA: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7CC697B-37EE-EC0B-1A79-4B89FEFDE5FA}"/>
              </a:ext>
            </a:extLst>
          </p:cNvPr>
          <p:cNvGrpSpPr/>
          <p:nvPr/>
        </p:nvGrpSpPr>
        <p:grpSpPr>
          <a:xfrm>
            <a:off x="369518" y="2468670"/>
            <a:ext cx="11981145" cy="3392469"/>
            <a:chOff x="0" y="2280779"/>
            <a:chExt cx="12386154" cy="339246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8D8FFA0-A100-8AC3-251D-DB733E338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938" y="2865732"/>
              <a:ext cx="8314982" cy="2279497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1C844E7-B80C-8E1D-3860-9F58D849B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154" y="5042768"/>
              <a:ext cx="12192000" cy="63048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2241AF7-A56F-E721-F449-12835E6C2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80779"/>
              <a:ext cx="12192000" cy="630480"/>
            </a:xfrm>
            <a:prstGeom prst="rect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3632C9A-FD7B-EB14-E5C3-3C31B2CF433D}"/>
              </a:ext>
            </a:extLst>
          </p:cNvPr>
          <p:cNvSpPr txBox="1"/>
          <p:nvPr/>
        </p:nvSpPr>
        <p:spPr>
          <a:xfrm>
            <a:off x="2185790" y="5491807"/>
            <a:ext cx="766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Comparison between PDA+MLE, PDA+DE-MCMC and CNN-ABC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871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recovery for collapse boundary model: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EAFDCD-96D5-6700-A488-45F3232E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35" y="2496059"/>
            <a:ext cx="5554422" cy="328038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8CDBF3-A5CE-EA47-CA5E-A6ED67EC37A4}"/>
              </a:ext>
            </a:extLst>
          </p:cNvPr>
          <p:cNvSpPr txBox="1"/>
          <p:nvPr/>
        </p:nvSpPr>
        <p:spPr>
          <a:xfrm>
            <a:off x="7409145" y="5174056"/>
            <a:ext cx="352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Li, Zhang, Yuan &amp; Rao, 2022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7864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88307"/>
            <a:ext cx="102525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recovery for collapse boundary model: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88E471-350B-6833-BBC7-5338BA8FB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03" y="2138385"/>
            <a:ext cx="5204564" cy="46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64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Summary: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Easy to implement.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Fast training.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Good parameter recovery.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70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CNN-ABC</a:t>
            </a:r>
          </a:p>
          <a:p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Summary: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Only return the expected value and variance of the parameter(assuming gaussian distribution).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Hard to apply to the hierarchical model.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171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endParaRPr lang="en-US" altLang="zh-C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Network structure: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Fully connected MLP + KDE: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FCE338-C2C2-5B6B-5481-8E1D19488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323" y="3296619"/>
            <a:ext cx="7945558" cy="302372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EFFC6E9-259D-53D3-251C-C713D859BB5F}"/>
              </a:ext>
            </a:extLst>
          </p:cNvPr>
          <p:cNvSpPr/>
          <p:nvPr/>
        </p:nvSpPr>
        <p:spPr>
          <a:xfrm>
            <a:off x="8411227" y="4014592"/>
            <a:ext cx="1828800" cy="13590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CA72F78-CADD-9946-B79B-ECA2876718D0}"/>
              </a:ext>
            </a:extLst>
          </p:cNvPr>
          <p:cNvCxnSpPr/>
          <p:nvPr/>
        </p:nvCxnSpPr>
        <p:spPr>
          <a:xfrm flipV="1">
            <a:off x="9338153" y="3296619"/>
            <a:ext cx="688932" cy="7179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CE000D5-CCC6-BF82-B8CD-722A53B1ECBB}"/>
              </a:ext>
            </a:extLst>
          </p:cNvPr>
          <p:cNvSpPr txBox="1"/>
          <p:nvPr/>
        </p:nvSpPr>
        <p:spPr>
          <a:xfrm>
            <a:off x="10062576" y="3167761"/>
            <a:ext cx="2129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Generated by KDE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5942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7386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LAN</a:t>
                </a:r>
                <a:endParaRPr lang="en-US" altLang="zh-CN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Network structure: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Fully connected MLP + KDE: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Three hidden layers: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[100, 120, 100]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Approximate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parameter number.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7386638"/>
              </a:xfrm>
              <a:prstGeom prst="rect">
                <a:avLst/>
              </a:prstGeom>
              <a:blipFill>
                <a:blip r:embed="rId2"/>
                <a:stretch>
                  <a:fillRect l="-1844" t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747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880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LAN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 data: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Step1: Sample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1.5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7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parameter combinations.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Step2: Simulate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trail data for each parameter combination.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Step3: Construct pseudo-likelihood using KDE.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Step4: Construct training data:</a:t>
                </a: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800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trails from KDE distribution +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trails from uniform distribution +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trials negative RT.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8802410"/>
              </a:xfrm>
              <a:prstGeom prst="rect">
                <a:avLst/>
              </a:prstGeom>
              <a:blipFill>
                <a:blip r:embed="rId2"/>
                <a:stretch>
                  <a:fillRect l="-1844" t="-1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15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7325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LAN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Bottleneck: 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simulation number: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1.5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million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 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 time is longer than MNLE/Bayes flow(Due to large training data(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1.5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million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1000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)).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KDE provides a biased approximation of likelihood</a:t>
                </a: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7325082"/>
              </a:xfrm>
              <a:prstGeom prst="rect">
                <a:avLst/>
              </a:prstGeom>
              <a:blipFill>
                <a:blip r:embed="rId2"/>
                <a:stretch>
                  <a:fillRect l="-1844" t="-1248" r="-1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557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8617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LAN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My own trying: 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Model: 4 parameter Pure DDM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Simulation number: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1.5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 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Simulation + KDE: 6 hours on TR2990WX.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Training time:  Huber loss: 2.5 hours for one epoch.</a:t>
                </a:r>
              </a:p>
              <a:p>
                <a:pPr lvl="6">
                  <a:lnSpc>
                    <a:spcPct val="15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MSE loss: 30 minutes for one epoch. </a:t>
                </a: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771900" lvl="7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8617744"/>
              </a:xfrm>
              <a:prstGeom prst="rect">
                <a:avLst/>
              </a:prstGeom>
              <a:blipFill>
                <a:blip r:embed="rId2"/>
                <a:stretch>
                  <a:fillRect l="-1844" t="-1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0129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My own trying: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71900" lvl="7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表, 直方图&#10;&#10;描述已自动生成">
            <a:extLst>
              <a:ext uri="{FF2B5EF4-FFF2-40B4-BE49-F238E27FC236}">
                <a16:creationId xmlns:a16="http://schemas.microsoft.com/office/drawing/2014/main" id="{F21FC46C-8ECC-331A-4343-8BBD4507F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361" y="2447497"/>
            <a:ext cx="6940827" cy="428499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024AD88-F7B5-C306-4043-944BCF6DCA12}"/>
              </a:ext>
            </a:extLst>
          </p:cNvPr>
          <p:cNvSpPr txBox="1"/>
          <p:nvPr/>
        </p:nvSpPr>
        <p:spPr>
          <a:xfrm>
            <a:off x="1571811" y="2327967"/>
            <a:ext cx="2534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3 epoch result: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32554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(</a:t>
            </a:r>
            <a:r>
              <a:rPr lang="en-US" altLang="zh-CN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Boelts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et al., 2022)</a:t>
            </a: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Flow-based model: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336607-4530-156F-A1AE-CD4E7792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74" y="2387947"/>
            <a:ext cx="7640877" cy="409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196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Flow-based model: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Change of variables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42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Change of variables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42AC07-8663-BB90-EE3D-DE481FC30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72" y="2108922"/>
            <a:ext cx="7520235" cy="461664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CAD75D0-7456-4556-5D06-2FD9970FCA83}"/>
              </a:ext>
            </a:extLst>
          </p:cNvPr>
          <p:cNvSpPr txBox="1"/>
          <p:nvPr/>
        </p:nvSpPr>
        <p:spPr>
          <a:xfrm>
            <a:off x="7861806" y="5768236"/>
            <a:ext cx="3204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李宏毅老师的随堂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629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Change of variables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E39C14-5D45-AA3C-6BAF-B8AE7E8F9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52" y="2072834"/>
            <a:ext cx="7404696" cy="46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946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95403" y="532183"/>
            <a:ext cx="102525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Change of variables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1D097F-1017-EAA2-6724-BA250F783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33" y="2243833"/>
            <a:ext cx="10966494" cy="19869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B412DB-DC23-56CA-27DA-E7E8462A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36" y="4465195"/>
            <a:ext cx="7976827" cy="19579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0AFD7A-9319-67B2-3B38-008797120577}"/>
              </a:ext>
            </a:extLst>
          </p:cNvPr>
          <p:cNvSpPr txBox="1"/>
          <p:nvPr/>
        </p:nvSpPr>
        <p:spPr>
          <a:xfrm>
            <a:off x="9005263" y="5499012"/>
            <a:ext cx="271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Abadi" panose="020B0604020104020204" pitchFamily="34" charset="0"/>
              </a:rPr>
              <a:t>MLE</a:t>
            </a:r>
            <a:endParaRPr lang="zh-CN" altLang="en-US" sz="3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099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6771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Two usages of flow-based model: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Simulate: sample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generate faked data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through the invertible network.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likelihood function.</a:t>
                </a: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6771084"/>
              </a:xfrm>
              <a:prstGeom prst="rect">
                <a:avLst/>
              </a:prstGeom>
              <a:blipFill>
                <a:blip r:embed="rId2"/>
                <a:stretch>
                  <a:fillRect l="-1844" t="-1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170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8925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Commonly used invertible network: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Requirement: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Invertible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Easy to calculate the determinant.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22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843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Commonly used invertible network: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Coupling network(Nice/Real NVP/GLOW):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Affine transformation:</a:t>
                </a:r>
              </a:p>
              <a:p>
                <a:pPr marL="1943100" lvl="3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: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: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: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8430000"/>
              </a:xfrm>
              <a:prstGeom prst="rect">
                <a:avLst/>
              </a:prstGeom>
              <a:blipFill>
                <a:blip r:embed="rId2"/>
                <a:stretch>
                  <a:fillRect l="-1844" t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5046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Commonly used invertible network: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Coupling network(Nice/Real NVP/GLOW):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79EA29-DD8F-CD64-708D-73F34048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55" y="2158794"/>
            <a:ext cx="7652108" cy="454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07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10864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Commonly used invertible network: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Autoregressive model:</a:t>
                </a: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sub>
                        </m:sSub>
                      </m: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</m:d>
                  </m:oMath>
                </a14:m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−1 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</m:oMath>
                </a14:m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𝜓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1: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−1 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𝑝𝑠𝑖</m:t>
                            </m:r>
                          </m:sub>
                        </m:sSub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1: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8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10864513"/>
              </a:xfrm>
              <a:prstGeom prst="rect">
                <a:avLst/>
              </a:prstGeom>
              <a:blipFill>
                <a:blip r:embed="rId2"/>
                <a:stretch>
                  <a:fillRect l="-1844" t="-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228A922-3A09-3458-0695-F111C883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634" y="2070714"/>
            <a:ext cx="5312667" cy="365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724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926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Commonly used invertible network: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Coupling model and auto-regressive model: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Auto-regressive model is more flexible; however, its sampling speed is slower.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Coupling model can be regarded as a special case of the auto-regressive model.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0997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10218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Go back to Bayes flow: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Step1: Sample parameter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the prior distribution.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Step2: Simulate data and then fit the data into an auto-encoder model.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Step3: Extract the summary statistics from the encoder-decoder model.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Step4: Construct flow model: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simulate parameter.</a:t>
                </a: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10218182"/>
              </a:xfrm>
              <a:prstGeom prst="rect">
                <a:avLst/>
              </a:prstGeom>
              <a:blipFill>
                <a:blip r:embed="rId2"/>
                <a:stretch>
                  <a:fillRect l="-1844" t="-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0390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07929" y="407096"/>
                <a:ext cx="10252553" cy="10772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Go back to Bayes flow: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Step1: Sample parameter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the prior distribution.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Step2: Simulate data and then fit the data into an auto-encoder model.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Step3: Extract the summary statistics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the encoder-decoder model.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Step4: Construct flow model: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simulate parameter.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29" y="407096"/>
                <a:ext cx="10252553" cy="10772180"/>
              </a:xfrm>
              <a:prstGeom prst="rect">
                <a:avLst/>
              </a:prstGeom>
              <a:blipFill>
                <a:blip r:embed="rId2"/>
                <a:stretch>
                  <a:fillRect l="-1844" t="-905" r="-1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918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82877" y="432148"/>
            <a:ext cx="10252553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Go back to Bayes flow: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One advantage of Bayes flow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Naturally suitable for joint modelling.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407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95403" y="460919"/>
            <a:ext cx="1025255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Go back to Bayes flow: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Joint modeling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DABE32-1727-8100-1471-14D15C63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82" y="3171860"/>
            <a:ext cx="7658035" cy="31735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33EB2C-C52B-5D03-F43F-71C5BA6CB0AE}"/>
              </a:ext>
            </a:extLst>
          </p:cNvPr>
          <p:cNvSpPr txBox="1"/>
          <p:nvPr/>
        </p:nvSpPr>
        <p:spPr>
          <a:xfrm>
            <a:off x="8661748" y="6478066"/>
            <a:ext cx="227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Turner et al.,2017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B9AC541-BD2A-FB8C-54DA-D07E6B8062A7}"/>
              </a:ext>
            </a:extLst>
          </p:cNvPr>
          <p:cNvCxnSpPr/>
          <p:nvPr/>
        </p:nvCxnSpPr>
        <p:spPr>
          <a:xfrm flipH="1" flipV="1">
            <a:off x="8398701" y="2505206"/>
            <a:ext cx="106472" cy="26993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97812C59-F039-50FD-AE69-E066EF76D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592" y="1819406"/>
            <a:ext cx="41624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692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821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Go back to Bayes flow:</a:t>
                </a: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 advantage of Bayes flow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Naturally suitable for joint modelling.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8217634"/>
              </a:xfrm>
              <a:prstGeom prst="rect">
                <a:avLst/>
              </a:prstGeom>
              <a:blipFill>
                <a:blip r:embed="rId2"/>
                <a:stretch>
                  <a:fillRect l="-1844" t="-1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843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557408"/>
                <a:ext cx="10252553" cy="8217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</a:t>
                </a: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Go back to Bayes flow:</a:t>
                </a: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 advantage of Bayes flow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More suitable for joint modeling.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557408"/>
                <a:ext cx="10252553" cy="8217634"/>
              </a:xfrm>
              <a:prstGeom prst="rect">
                <a:avLst/>
              </a:prstGeom>
              <a:blipFill>
                <a:blip r:embed="rId2"/>
                <a:stretch>
                  <a:fillRect l="-1844" t="-1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7DD584B7-61CA-404F-F46E-DE666847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282" y="2194202"/>
            <a:ext cx="8743444" cy="445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002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557408"/>
            <a:ext cx="10252553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</a:t>
            </a:r>
          </a:p>
          <a:p>
            <a:endParaRPr lang="en-US" altLang="zh-C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Network structure: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F4A30F-3540-CFB0-4368-2A92555D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26" y="2621088"/>
            <a:ext cx="3737336" cy="3753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AFE562-A3DC-6466-E8FB-BCDFD8261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180" y="2738923"/>
            <a:ext cx="4972050" cy="8667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4454A0F-3C5F-9D5D-A6E5-2946750B10B4}"/>
              </a:ext>
            </a:extLst>
          </p:cNvPr>
          <p:cNvSpPr txBox="1"/>
          <p:nvPr/>
        </p:nvSpPr>
        <p:spPr>
          <a:xfrm>
            <a:off x="6513535" y="3172311"/>
            <a:ext cx="5379928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Fully connected MLP + Spline Flow model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3525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01666" y="405861"/>
                <a:ext cx="10252553" cy="6637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 vs. LAN:</a:t>
                </a:r>
              </a:p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Simulation number: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LAN11: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smaller than the original LAN paper’s claim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LAN8: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LAN5: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MNLE: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66" y="405861"/>
                <a:ext cx="10252553" cy="6637651"/>
              </a:xfrm>
              <a:prstGeom prst="rect">
                <a:avLst/>
              </a:prstGeom>
              <a:blipFill>
                <a:blip r:embed="rId2"/>
                <a:stretch>
                  <a:fillRect l="-16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2901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82877" y="317650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Likelihood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EC8849-B58C-8928-80DA-A16C6142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274" y="2828424"/>
            <a:ext cx="8004131" cy="393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142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88" y="286315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Simulation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B74904-0256-097B-94AA-229CC7569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72" y="3235065"/>
            <a:ext cx="9284787" cy="257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058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94874" y="360255"/>
            <a:ext cx="10252553" cy="4790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estimation comparison: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100 observed trails, 100 simulated agents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4110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88434" y="259518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estimation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703C56-DD28-ED86-AABF-650992D52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86" y="2794933"/>
            <a:ext cx="7716033" cy="399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056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0808" y="271978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estimation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71EC77-DF07-734B-C04C-E2163402C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26" y="2770364"/>
            <a:ext cx="7899574" cy="372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750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79750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estimation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3EEF16-0269-C260-5398-88D1E9D9F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96" y="3469600"/>
            <a:ext cx="9294312" cy="264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6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20631" y="316591"/>
            <a:ext cx="10252553" cy="4236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Fixed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Parameter estimation comparison: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12AD1D-1094-89C3-2166-6D5F0C2A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302" y="2777208"/>
            <a:ext cx="6892861" cy="40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422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/>
              <p:nvPr/>
            </p:nvSpPr>
            <p:spPr>
              <a:xfrm>
                <a:off x="814192" y="494778"/>
                <a:ext cx="10252553" cy="5991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MNLE vs. LAN:</a:t>
                </a: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Fixed boundary DDM: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Computation time:</a:t>
                </a:r>
              </a:p>
              <a:p>
                <a:pPr marL="1943100" lvl="3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LAN: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1.02±0.03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𝑚𝑠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943100" lvl="3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MNLE: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4.14±0.04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MNLE needs to calculate determinant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485900" lvl="2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zh-C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028700" lvl="1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53D982C-E462-B48B-C04E-DDB0C07B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92" y="494778"/>
                <a:ext cx="10252553" cy="5991320"/>
              </a:xfrm>
              <a:prstGeom prst="rect">
                <a:avLst/>
              </a:prstGeom>
              <a:blipFill>
                <a:blip r:embed="rId2"/>
                <a:stretch>
                  <a:fillRect l="-16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9323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762677" y="447938"/>
            <a:ext cx="10252553" cy="3590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SBC(Simulation-based calibration):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2DC4D3-93A1-6BF3-FF76-425894471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93" y="2954317"/>
            <a:ext cx="11100117" cy="29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9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01842" y="365967"/>
            <a:ext cx="10252553" cy="3590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SBC: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9CBC8F-B102-9E58-B544-971207225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27" y="2232133"/>
            <a:ext cx="7367019" cy="406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804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1" y="332036"/>
            <a:ext cx="10252553" cy="3590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MNLE vs. LAN: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Collapse boundary DDM: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DBDA79-0352-2B76-6449-DB791FF06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46" y="2275475"/>
            <a:ext cx="8154444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6170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3D982C-E462-B48B-C04E-DDB0C07BAEB7}"/>
              </a:ext>
            </a:extLst>
          </p:cNvPr>
          <p:cNvSpPr txBox="1"/>
          <p:nvPr/>
        </p:nvSpPr>
        <p:spPr>
          <a:xfrm>
            <a:off x="814192" y="325677"/>
            <a:ext cx="10252553" cy="7006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Discussion: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MNLE has less bias compared to the previous likelihood approximation methods.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MNLE provides maximal flexibility compared to NRE and NPE(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NRE is almost identical to NLE…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485900" lvl="2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MNLE can be applied to high dimension models, whereas LAN cannot(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biggest advantage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45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1728</Words>
  <Application>Microsoft Office PowerPoint</Application>
  <PresentationFormat>宽屏</PresentationFormat>
  <Paragraphs>657</Paragraphs>
  <Slides>76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1" baseType="lpstr">
      <vt:lpstr>等线</vt:lpstr>
      <vt:lpstr>Abadi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Mingqian Guo</dc:creator>
  <cp:lastModifiedBy>Mingqian Guo</cp:lastModifiedBy>
  <cp:revision>71</cp:revision>
  <dcterms:created xsi:type="dcterms:W3CDTF">2022-08-10T11:04:48Z</dcterms:created>
  <dcterms:modified xsi:type="dcterms:W3CDTF">2022-08-14T23:17:19Z</dcterms:modified>
</cp:coreProperties>
</file>