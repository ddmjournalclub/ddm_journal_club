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4"/>
  </p:notesMasterIdLst>
  <p:sldIdLst>
    <p:sldId id="272" r:id="rId2"/>
    <p:sldId id="271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84" r:id="rId13"/>
    <p:sldId id="283" r:id="rId14"/>
    <p:sldId id="281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22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 userDrawn="1">
          <p15:clr>
            <a:srgbClr val="A4A3A4"/>
          </p15:clr>
        </p15:guide>
        <p15:guide id="2" pos="6833" userDrawn="1">
          <p15:clr>
            <a:srgbClr val="A4A3A4"/>
          </p15:clr>
        </p15:guide>
        <p15:guide id="3" pos="2025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  <p15:guide id="6" orient="horz" pos="2319" userDrawn="1">
          <p15:clr>
            <a:srgbClr val="A4A3A4"/>
          </p15:clr>
        </p15:guide>
        <p15:guide id="7" orient="horz" pos="32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46"/>
    <a:srgbClr val="0000FF"/>
    <a:srgbClr val="00FF00"/>
    <a:srgbClr val="92D14F"/>
    <a:srgbClr val="0174AB"/>
    <a:srgbClr val="666666"/>
    <a:srgbClr val="BFC0C0"/>
    <a:srgbClr val="9F9D9A"/>
    <a:srgbClr val="0A377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1007" autoAdjust="0"/>
  </p:normalViewPr>
  <p:slideViewPr>
    <p:cSldViewPr snapToGrid="0" showGuides="1">
      <p:cViewPr varScale="1">
        <p:scale>
          <a:sx n="67" d="100"/>
          <a:sy n="67" d="100"/>
        </p:scale>
        <p:origin x="692" y="52"/>
      </p:cViewPr>
      <p:guideLst>
        <p:guide orient="horz" pos="255"/>
        <p:guide pos="6833"/>
        <p:guide pos="2025"/>
        <p:guide orient="horz" pos="1139"/>
        <p:guide orient="horz" pos="2319"/>
        <p:guide orient="horz" pos="322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13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7A06-B06E-4BA1-8343-1CCBE8492F9B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A2CBA-E486-4DC8-8696-C7854B0A2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01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442532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10529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538849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640442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963451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715136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872111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384819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10949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57788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9/8/2022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2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EF31D4-1AA4-45E7-8F10-C007A9A6DDB0}" type="datetimeFigureOut">
              <a:rPr lang="zh-HK" altLang="en-US" smtClean="0"/>
              <a:pPr/>
              <a:t>9/8/2022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45C72C-05F9-42DA-A32C-E89F323A6F21}" type="slidenum">
              <a:rPr lang="zh-HK" altLang="en-US" smtClean="0"/>
              <a:pPr/>
              <a:t>‹#›</a:t>
            </a:fld>
            <a:endParaRPr lang="zh-HK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17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>
    <p:wipe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CC102-79D7-4C38-B8A1-B690A61D2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659" y="1722892"/>
            <a:ext cx="10496681" cy="1384935"/>
          </a:xfrm>
        </p:spPr>
        <p:txBody>
          <a:bodyPr>
            <a:noAutofit/>
          </a:bodyPr>
          <a:lstStyle/>
          <a:p>
            <a:pPr algn="ctr"/>
            <a:r>
              <a:rPr lang="en-US" altLang="zh-CN" sz="4000" dirty="0">
                <a:latin typeface="+mn-lt"/>
              </a:rPr>
              <a:t>Mental speed is high until age 60 as revealed by analysis of over a million participants</a:t>
            </a:r>
            <a:endParaRPr lang="zh-CN" altLang="en-US" sz="4000" dirty="0">
              <a:latin typeface="+mn-lt"/>
            </a:endParaRP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735C56D-EC97-2E69-1694-7EE6DEC62C08}"/>
              </a:ext>
            </a:extLst>
          </p:cNvPr>
          <p:cNvCxnSpPr/>
          <p:nvPr/>
        </p:nvCxnSpPr>
        <p:spPr>
          <a:xfrm>
            <a:off x="1207658" y="3322483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C970E959-EC61-EB05-5A2C-DB466A3EF274}"/>
              </a:ext>
            </a:extLst>
          </p:cNvPr>
          <p:cNvSpPr/>
          <p:nvPr/>
        </p:nvSpPr>
        <p:spPr>
          <a:xfrm>
            <a:off x="1072055" y="4056993"/>
            <a:ext cx="10011123" cy="315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DB6DF1-6FAA-43A3-B68E-6BABA10AA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9038" y="3354013"/>
            <a:ext cx="7543800" cy="138493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000" cap="none" dirty="0">
                <a:solidFill>
                  <a:schemeClr val="tx1"/>
                </a:solidFill>
              </a:rPr>
              <a:t>Mischa von Krause, Stefan T. </a:t>
            </a:r>
            <a:r>
              <a:rPr lang="en-US" altLang="zh-CN" sz="3000" cap="none" dirty="0" err="1">
                <a:solidFill>
                  <a:schemeClr val="tx1"/>
                </a:solidFill>
              </a:rPr>
              <a:t>Radev</a:t>
            </a:r>
            <a:r>
              <a:rPr lang="en-US" altLang="zh-CN" sz="3000" cap="none" dirty="0">
                <a:solidFill>
                  <a:schemeClr val="tx1"/>
                </a:solidFill>
              </a:rPr>
              <a:t>, Andreas Voss</a:t>
            </a:r>
            <a:endParaRPr lang="zh-CN" altLang="en-US" sz="2800" cap="none" dirty="0">
              <a:solidFill>
                <a:schemeClr val="tx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0A10425-B66E-80EB-F3DB-F53937AB3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07" y="292551"/>
            <a:ext cx="4562475" cy="904875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196733BF-9D02-0FBA-72BE-EE99BDA29209}"/>
              </a:ext>
            </a:extLst>
          </p:cNvPr>
          <p:cNvSpPr txBox="1">
            <a:spLocks/>
          </p:cNvSpPr>
          <p:nvPr/>
        </p:nvSpPr>
        <p:spPr>
          <a:xfrm>
            <a:off x="9101959" y="5791199"/>
            <a:ext cx="2939743" cy="511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2400" dirty="0">
                <a:latin typeface="+mn-lt"/>
              </a:rPr>
              <a:t>Presenter: Xiao Hu</a:t>
            </a:r>
            <a:endParaRPr lang="zh-CN" alt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712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966593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Mental speed</a:t>
            </a:r>
            <a:r>
              <a:rPr lang="en-US" altLang="zh-CN" sz="2400" dirty="0"/>
              <a:t>: a fundamental property of cognitive agents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99AEE0-78A1-9E23-E0B2-846DD7D3054B}"/>
              </a:ext>
            </a:extLst>
          </p:cNvPr>
          <p:cNvSpPr txBox="1"/>
          <p:nvPr/>
        </p:nvSpPr>
        <p:spPr>
          <a:xfrm>
            <a:off x="6905623" y="5545177"/>
            <a:ext cx="4962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(Hartshorne &amp;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Germine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, 2015; Salthouse, 2004, 2010;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Zimprich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&amp; Martin, 2002)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DF5106-B537-DD4B-BB08-A97B359B2FA8}"/>
              </a:ext>
            </a:extLst>
          </p:cNvPr>
          <p:cNvSpPr txBox="1"/>
          <p:nvPr/>
        </p:nvSpPr>
        <p:spPr>
          <a:xfrm>
            <a:off x="700995" y="1821321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Older people are often assumed to be slower thinkers than younger people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7FB7E4-17BF-59BB-D632-57B161306DD8}"/>
              </a:ext>
            </a:extLst>
          </p:cNvPr>
          <p:cNvSpPr txBox="1"/>
          <p:nvPr/>
        </p:nvSpPr>
        <p:spPr>
          <a:xfrm>
            <a:off x="853395" y="2359667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across a wide variety of cognitive tasks and contexts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3A5B2A9-09E6-E6FE-4147-EB3E150F5EA1}"/>
              </a:ext>
            </a:extLst>
          </p:cNvPr>
          <p:cNvCxnSpPr>
            <a:cxnSpLocks/>
          </p:cNvCxnSpPr>
          <p:nvPr/>
        </p:nvCxnSpPr>
        <p:spPr>
          <a:xfrm flipV="1">
            <a:off x="2124075" y="3455059"/>
            <a:ext cx="0" cy="188595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2A7BD45-5E25-0F44-989F-A274CA69150E}"/>
              </a:ext>
            </a:extLst>
          </p:cNvPr>
          <p:cNvCxnSpPr>
            <a:cxnSpLocks/>
          </p:cNvCxnSpPr>
          <p:nvPr/>
        </p:nvCxnSpPr>
        <p:spPr>
          <a:xfrm>
            <a:off x="2124075" y="5321959"/>
            <a:ext cx="383857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3675D81-0AC1-B9E8-5CAC-A0E486882B6B}"/>
              </a:ext>
            </a:extLst>
          </p:cNvPr>
          <p:cNvSpPr txBox="1"/>
          <p:nvPr/>
        </p:nvSpPr>
        <p:spPr>
          <a:xfrm>
            <a:off x="5962650" y="4931434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/>
              <a:t>age</a:t>
            </a:r>
            <a:endParaRPr lang="zh-CN" altLang="en-US" sz="22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E75649-CCC7-B0D5-DCF5-0E10747F0EBD}"/>
              </a:ext>
            </a:extLst>
          </p:cNvPr>
          <p:cNvSpPr txBox="1"/>
          <p:nvPr/>
        </p:nvSpPr>
        <p:spPr>
          <a:xfrm>
            <a:off x="2125337" y="3145794"/>
            <a:ext cx="1918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mental speed</a:t>
            </a:r>
            <a:endParaRPr lang="zh-CN" altLang="en-US" sz="2400" b="1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1EB1467-ABB3-4D8F-6EAF-B11668DD452E}"/>
              </a:ext>
            </a:extLst>
          </p:cNvPr>
          <p:cNvCxnSpPr>
            <a:cxnSpLocks/>
          </p:cNvCxnSpPr>
          <p:nvPr/>
        </p:nvCxnSpPr>
        <p:spPr>
          <a:xfrm flipV="1">
            <a:off x="3143250" y="3778909"/>
            <a:ext cx="0" cy="154305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47084F2-763E-F89A-0596-37766E7F9132}"/>
              </a:ext>
            </a:extLst>
          </p:cNvPr>
          <p:cNvCxnSpPr>
            <a:cxnSpLocks/>
          </p:cNvCxnSpPr>
          <p:nvPr/>
        </p:nvCxnSpPr>
        <p:spPr>
          <a:xfrm>
            <a:off x="3143250" y="3778909"/>
            <a:ext cx="1562100" cy="393064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772DA06-8C48-ED64-C490-755104D2EAFF}"/>
              </a:ext>
            </a:extLst>
          </p:cNvPr>
          <p:cNvSpPr txBox="1"/>
          <p:nvPr/>
        </p:nvSpPr>
        <p:spPr>
          <a:xfrm>
            <a:off x="2658181" y="5321959"/>
            <a:ext cx="9701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200" dirty="0"/>
              <a:t>20 - 30</a:t>
            </a:r>
          </a:p>
          <a:p>
            <a:pPr algn="ctr"/>
            <a:r>
              <a:rPr lang="en-US" altLang="zh-CN" sz="2200" dirty="0"/>
              <a:t>years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515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992226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Mean response time (RTs)</a:t>
            </a:r>
            <a:r>
              <a:rPr lang="en-US" altLang="zh-CN" sz="2400" dirty="0"/>
              <a:t>: measure of mental speed in previous studies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DF5106-B537-DD4B-BB08-A97B359B2FA8}"/>
              </a:ext>
            </a:extLst>
          </p:cNvPr>
          <p:cNvSpPr txBox="1"/>
          <p:nvPr/>
        </p:nvSpPr>
        <p:spPr>
          <a:xfrm>
            <a:off x="700995" y="1969255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Two major shortcomings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1E3061-BBF7-6452-111D-F867EBA02F4C}"/>
              </a:ext>
            </a:extLst>
          </p:cNvPr>
          <p:cNvSpPr txBox="1"/>
          <p:nvPr/>
        </p:nvSpPr>
        <p:spPr>
          <a:xfrm>
            <a:off x="853396" y="2610676"/>
            <a:ext cx="10500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mean RTs do not utilize the full information in RT distributions, and ignore accuracy data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31408-47FE-EB4D-FC3E-93A11AA47663}"/>
              </a:ext>
            </a:extLst>
          </p:cNvPr>
          <p:cNvSpPr txBox="1"/>
          <p:nvPr/>
        </p:nvSpPr>
        <p:spPr>
          <a:xfrm>
            <a:off x="853395" y="3989870"/>
            <a:ext cx="611890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mean RTs are not pure measures of mental speed, but the sum of disparate cognitive processes </a:t>
            </a:r>
            <a:r>
              <a:rPr lang="en-US" altLang="zh-CN" sz="2000" dirty="0"/>
              <a:t>(e.g., speed-accuracy tradeoff; encoding and motor processes)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8" name="Picture 4" descr="Mathematics 08 00703 g001">
            <a:extLst>
              <a:ext uri="{FF2B5EF4-FFF2-40B4-BE49-F238E27FC236}">
                <a16:creationId xmlns:a16="http://schemas.microsoft.com/office/drawing/2014/main" id="{4E02EFBE-4B6B-B3C5-1AAD-15A7F3647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6" r="51798" b="10540"/>
          <a:stretch/>
        </p:blipFill>
        <p:spPr bwMode="auto">
          <a:xfrm>
            <a:off x="7330383" y="3313899"/>
            <a:ext cx="3827246" cy="266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63ED5D7-951E-5DD0-4F94-C86E7BF49DC9}"/>
              </a:ext>
            </a:extLst>
          </p:cNvPr>
          <p:cNvSpPr txBox="1"/>
          <p:nvPr/>
        </p:nvSpPr>
        <p:spPr>
          <a:xfrm>
            <a:off x="9101131" y="58714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62456F-F3CC-4986-E6E0-086F42511BFB}"/>
              </a:ext>
            </a:extLst>
          </p:cNvPr>
          <p:cNvSpPr txBox="1"/>
          <p:nvPr/>
        </p:nvSpPr>
        <p:spPr>
          <a:xfrm>
            <a:off x="11157629" y="5555365"/>
            <a:ext cx="446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RT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D62426-DA7E-9C8E-86B8-51908F71F086}"/>
              </a:ext>
            </a:extLst>
          </p:cNvPr>
          <p:cNvSpPr txBox="1"/>
          <p:nvPr/>
        </p:nvSpPr>
        <p:spPr>
          <a:xfrm>
            <a:off x="10081304" y="4144896"/>
            <a:ext cx="977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correct</a:t>
            </a:r>
            <a:endParaRPr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B70352-AC0E-B3FA-BFC8-11F49697CBA2}"/>
              </a:ext>
            </a:extLst>
          </p:cNvPr>
          <p:cNvSpPr txBox="1"/>
          <p:nvPr/>
        </p:nvSpPr>
        <p:spPr>
          <a:xfrm>
            <a:off x="7581900" y="4759311"/>
            <a:ext cx="1209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incorrect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845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870027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Diffusion model (DM)</a:t>
            </a:r>
            <a:r>
              <a:rPr lang="en-US" altLang="zh-CN" sz="2400" dirty="0"/>
              <a:t>: decompose observed behavior into plausible parameters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99E0A6-E50C-343A-6B36-C314D6718D4C}"/>
              </a:ext>
            </a:extLst>
          </p:cNvPr>
          <p:cNvSpPr txBox="1"/>
          <p:nvPr/>
        </p:nvSpPr>
        <p:spPr>
          <a:xfrm>
            <a:off x="700997" y="1932096"/>
            <a:ext cx="5947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u="sng" dirty="0"/>
              <a:t>Drift rate (</a:t>
            </a:r>
            <a:r>
              <a:rPr lang="en-US" altLang="zh-CN" sz="2400" b="1" i="1" u="sng" dirty="0"/>
              <a:t>v</a:t>
            </a:r>
            <a:r>
              <a:rPr lang="en-US" altLang="zh-CN" sz="2400" b="1" u="sng" dirty="0"/>
              <a:t>)</a:t>
            </a:r>
            <a:r>
              <a:rPr lang="en-US" altLang="zh-CN" sz="2400" dirty="0"/>
              <a:t>: a model-based estimate of mental speed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A9096B-AD05-B3F8-7A92-0C5A4BE0CE64}"/>
              </a:ext>
            </a:extLst>
          </p:cNvPr>
          <p:cNvSpPr txBox="1"/>
          <p:nvPr/>
        </p:nvSpPr>
        <p:spPr>
          <a:xfrm>
            <a:off x="853397" y="3016825"/>
            <a:ext cx="5395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specifically reflect the speed of evidence accumulation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A10C08-A90D-0C6A-0B2F-2712C91F31DB}"/>
              </a:ext>
            </a:extLst>
          </p:cNvPr>
          <p:cNvSpPr txBox="1"/>
          <p:nvPr/>
        </p:nvSpPr>
        <p:spPr>
          <a:xfrm>
            <a:off x="853395" y="4207943"/>
            <a:ext cx="53950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independent of decision caution (boundary separation) and the time for encoding and motor processes (non-decision time)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553863-1342-1FE7-246D-5E184B008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26" y="1700594"/>
            <a:ext cx="5457021" cy="41858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003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1182726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Previous DM studies on age differences: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C28490-0AD0-F33B-F0F3-39D3BE1B0138}"/>
              </a:ext>
            </a:extLst>
          </p:cNvPr>
          <p:cNvSpPr txBox="1"/>
          <p:nvPr/>
        </p:nvSpPr>
        <p:spPr>
          <a:xfrm>
            <a:off x="853396" y="1931155"/>
            <a:ext cx="11014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most studies compared groups of young adults (~ 20 years) with old adults (60 years or older) 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6B28FF-510A-3599-C437-4FE88482C33E}"/>
              </a:ext>
            </a:extLst>
          </p:cNvPr>
          <p:cNvSpPr txBox="1"/>
          <p:nvPr/>
        </p:nvSpPr>
        <p:spPr>
          <a:xfrm>
            <a:off x="853396" y="3125116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mental speed often exhibits </a:t>
            </a:r>
            <a:r>
              <a:rPr lang="en-US" altLang="zh-CN" sz="2400" b="1" u="sng" dirty="0"/>
              <a:t>no difference</a:t>
            </a:r>
            <a:r>
              <a:rPr lang="en-US" altLang="zh-CN" sz="2400" dirty="0"/>
              <a:t> between young and old adults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3140E4-1B76-2DAE-A66F-6D3F61D8012A}"/>
              </a:ext>
            </a:extLst>
          </p:cNvPr>
          <p:cNvSpPr txBox="1"/>
          <p:nvPr/>
        </p:nvSpPr>
        <p:spPr>
          <a:xfrm>
            <a:off x="853396" y="3949745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decision caution and non-decision time </a:t>
            </a:r>
            <a:r>
              <a:rPr lang="en-US" altLang="zh-CN" sz="2400" b="1" u="sng" dirty="0"/>
              <a:t>markedly increased</a:t>
            </a:r>
            <a:r>
              <a:rPr lang="en-US" altLang="zh-CN" sz="2400" dirty="0"/>
              <a:t> in old age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A4C15C-CFA1-286E-B8FD-E6C9FFC41697}"/>
              </a:ext>
            </a:extLst>
          </p:cNvPr>
          <p:cNvSpPr txBox="1"/>
          <p:nvPr/>
        </p:nvSpPr>
        <p:spPr>
          <a:xfrm>
            <a:off x="2305051" y="5827674"/>
            <a:ext cx="9563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(Ball &amp;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Aschenbrenner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, 2018; Dully et al., 2018;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Janczyk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2018; Ratcliff et al., 2010)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04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1413559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Many model-based studies have two serious shortcomings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C28490-0AD0-F33B-F0F3-39D3BE1B0138}"/>
              </a:ext>
            </a:extLst>
          </p:cNvPr>
          <p:cNvSpPr txBox="1"/>
          <p:nvPr/>
        </p:nvSpPr>
        <p:spPr>
          <a:xfrm>
            <a:off x="853395" y="2308495"/>
            <a:ext cx="1030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small sample size </a:t>
            </a:r>
            <a:r>
              <a:rPr lang="en-US" altLang="zh-CN" sz="2000" dirty="0"/>
              <a:t>(problematic for research on individual differences)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F83326-9299-2856-23BA-D750D89D7B7B}"/>
              </a:ext>
            </a:extLst>
          </p:cNvPr>
          <p:cNvSpPr txBox="1"/>
          <p:nvPr/>
        </p:nvSpPr>
        <p:spPr>
          <a:xfrm>
            <a:off x="853396" y="3305175"/>
            <a:ext cx="9605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compared only two age groups, which limit the generalizability of results </a:t>
            </a:r>
            <a:r>
              <a:rPr lang="en-US" altLang="zh-CN" sz="2000" dirty="0"/>
              <a:t>(e.g., to age span between 25 and 60 years)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279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956359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Two main reasons </a:t>
            </a:r>
            <a:r>
              <a:rPr lang="en-US" altLang="zh-CN" sz="2400" dirty="0"/>
              <a:t>for small sample size in DM studies: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C28490-0AD0-F33B-F0F3-39D3BE1B0138}"/>
              </a:ext>
            </a:extLst>
          </p:cNvPr>
          <p:cNvSpPr txBox="1"/>
          <p:nvPr/>
        </p:nvSpPr>
        <p:spPr>
          <a:xfrm>
            <a:off x="700996" y="1852120"/>
            <a:ext cx="10309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First, data collection is tedious given the large number of trials per person that were long thought to be required 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85D8F8-95D0-6028-94F9-26A6CD67C226}"/>
              </a:ext>
            </a:extLst>
          </p:cNvPr>
          <p:cNvSpPr txBox="1"/>
          <p:nvPr/>
        </p:nvSpPr>
        <p:spPr>
          <a:xfrm>
            <a:off x="853395" y="296733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such requirements are now considered to be largely overstated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Lerche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2017)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85AABF-71F8-36F5-963D-089EBA800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5" y="4059680"/>
            <a:ext cx="8705850" cy="22591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64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956359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Two main reasons </a:t>
            </a:r>
            <a:r>
              <a:rPr lang="en-US" altLang="zh-CN" sz="2400" dirty="0"/>
              <a:t>for small sample size in DM studies: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C28490-0AD0-F33B-F0F3-39D3BE1B0138}"/>
              </a:ext>
            </a:extLst>
          </p:cNvPr>
          <p:cNvSpPr txBox="1"/>
          <p:nvPr/>
        </p:nvSpPr>
        <p:spPr>
          <a:xfrm>
            <a:off x="700996" y="1852120"/>
            <a:ext cx="10500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Second, fitting DM is computationally expensive (especially for Bayesian methods)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FEAF44-905D-D373-0DAE-20962D851703}"/>
              </a:ext>
            </a:extLst>
          </p:cNvPr>
          <p:cNvSpPr txBox="1"/>
          <p:nvPr/>
        </p:nvSpPr>
        <p:spPr>
          <a:xfrm>
            <a:off x="853395" y="2595619"/>
            <a:ext cx="968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Bayesian methods allow for uncertainty quantification in the form of full posterior distributions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0FC804-A3AC-A369-BC76-2082278B142A}"/>
              </a:ext>
            </a:extLst>
          </p:cNvPr>
          <p:cNvSpPr txBox="1"/>
          <p:nvPr/>
        </p:nvSpPr>
        <p:spPr>
          <a:xfrm>
            <a:off x="853394" y="3860850"/>
            <a:ext cx="5309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However, standard Bayesian methods (e.g., Markov chain Monte Carlo) is computationally slow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04" name="Picture 8" descr="From Scratch: Bayesian Inference, Markov Chain Monte Carlo and Metropolis  Hastings, in python | by Joseph Moukarzel | Towards Data Science">
            <a:extLst>
              <a:ext uri="{FF2B5EF4-FFF2-40B4-BE49-F238E27FC236}">
                <a16:creationId xmlns:a16="http://schemas.microsoft.com/office/drawing/2014/main" id="{09CEE080-D22C-488A-BCE8-5FA5689D3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" t="4898" r="50000" b="6757"/>
          <a:stretch/>
        </p:blipFill>
        <p:spPr bwMode="auto">
          <a:xfrm>
            <a:off x="7368044" y="3426616"/>
            <a:ext cx="3166606" cy="28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614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2309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Introduction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1213534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current study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418CF9-05C3-71E6-8B04-3FA419A5EBEA}"/>
              </a:ext>
            </a:extLst>
          </p:cNvPr>
          <p:cNvSpPr txBox="1"/>
          <p:nvPr/>
        </p:nvSpPr>
        <p:spPr>
          <a:xfrm>
            <a:off x="853395" y="212612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utilize a deep learning framework to scale up model-based Bayesian inference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155FC1-3CB9-5AA1-1075-99E03E325038}"/>
              </a:ext>
            </a:extLst>
          </p:cNvPr>
          <p:cNvSpPr txBox="1"/>
          <p:nvPr/>
        </p:nvSpPr>
        <p:spPr>
          <a:xfrm>
            <a:off x="853395" y="3038708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analyze cross-sectional age differences in DM parameters estimated from </a:t>
            </a:r>
            <a:r>
              <a:rPr lang="en-US" altLang="zh-CN" sz="2400" b="1" u="sng" dirty="0"/>
              <a:t>more than 1,000,000 participants</a:t>
            </a:r>
            <a:endParaRPr lang="zh-CN" altLang="en-US" sz="20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FFD3C4-A444-C233-B8C4-6DE4F2CBBE41}"/>
              </a:ext>
            </a:extLst>
          </p:cNvPr>
          <p:cNvSpPr txBox="1"/>
          <p:nvPr/>
        </p:nvSpPr>
        <p:spPr>
          <a:xfrm>
            <a:off x="853395" y="4320627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cover childhood till late adulthood (ages </a:t>
            </a:r>
            <a:r>
              <a:rPr lang="en-US" altLang="zh-CN" sz="2400" b="1" u="sng" dirty="0"/>
              <a:t>10 to 80</a:t>
            </a:r>
            <a:r>
              <a:rPr lang="en-US" altLang="zh-CN" sz="2400" dirty="0"/>
              <a:t>)</a:t>
            </a:r>
            <a:endParaRPr lang="zh-CN" altLang="en-US" sz="2000" b="1" u="sn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11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63D185-C94D-495F-894F-AD1BEF471EAD}"/>
              </a:ext>
            </a:extLst>
          </p:cNvPr>
          <p:cNvSpPr txBox="1"/>
          <p:nvPr/>
        </p:nvSpPr>
        <p:spPr>
          <a:xfrm>
            <a:off x="700996" y="823009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Dataset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FEB386-4601-6FF7-529F-BE114BEA8BFA}"/>
              </a:ext>
            </a:extLst>
          </p:cNvPr>
          <p:cNvSpPr txBox="1"/>
          <p:nvPr/>
        </p:nvSpPr>
        <p:spPr>
          <a:xfrm>
            <a:off x="853395" y="1373646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race implicit association test (IAT) data from Project Implicit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3B9CF7-3603-1F52-160E-E9742BDE2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71" y="2125603"/>
            <a:ext cx="7980104" cy="16721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B10543-6371-A42F-221E-F49E52630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671" y="4157695"/>
            <a:ext cx="7503854" cy="212759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B7A1B9C-91D2-5380-7A89-21D937E3129A}"/>
              </a:ext>
            </a:extLst>
          </p:cNvPr>
          <p:cNvSpPr txBox="1"/>
          <p:nvPr/>
        </p:nvSpPr>
        <p:spPr>
          <a:xfrm>
            <a:off x="9488903" y="4389575"/>
            <a:ext cx="2322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Still updating!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14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pic>
        <p:nvPicPr>
          <p:cNvPr id="7170" name="Picture 2" descr="Test Your Implicit Bias - Implicit Association Test (IAT) - Loyola  Marymount University">
            <a:extLst>
              <a:ext uri="{FF2B5EF4-FFF2-40B4-BE49-F238E27FC236}">
                <a16:creationId xmlns:a16="http://schemas.microsoft.com/office/drawing/2014/main" id="{ED83A2DE-8AB7-1A72-5B9F-68E94A1BC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655" y="1697496"/>
            <a:ext cx="8120690" cy="431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F65C36B-AE8A-C5FD-B94A-7BDDAF5B3270}"/>
              </a:ext>
            </a:extLst>
          </p:cNvPr>
          <p:cNvSpPr txBox="1"/>
          <p:nvPr/>
        </p:nvSpPr>
        <p:spPr>
          <a:xfrm>
            <a:off x="691471" y="846821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Race IAT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76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01CE9D-C20C-C108-6322-7C1F6AC6639B}"/>
              </a:ext>
            </a:extLst>
          </p:cNvPr>
          <p:cNvSpPr txBox="1"/>
          <p:nvPr/>
        </p:nvSpPr>
        <p:spPr>
          <a:xfrm>
            <a:off x="691471" y="846821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Race IAT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753CD4-86AC-B321-E771-F8E6DA96BA7B}"/>
              </a:ext>
            </a:extLst>
          </p:cNvPr>
          <p:cNvSpPr txBox="1"/>
          <p:nvPr/>
        </p:nvSpPr>
        <p:spPr>
          <a:xfrm>
            <a:off x="853395" y="14593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designed to measure implicit racial bias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4DAEDE-EB20-A3CA-7659-98B5BF4F83C5}"/>
              </a:ext>
            </a:extLst>
          </p:cNvPr>
          <p:cNvSpPr txBox="1"/>
          <p:nvPr/>
        </p:nvSpPr>
        <p:spPr>
          <a:xfrm>
            <a:off x="853395" y="2259519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people have to classify words and images as belonging to one of two categories (good/bad or Black/White)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B8202E-0528-55AB-B012-1A3DCB18494F}"/>
              </a:ext>
            </a:extLst>
          </p:cNvPr>
          <p:cNvSpPr txBox="1"/>
          <p:nvPr/>
        </p:nvSpPr>
        <p:spPr>
          <a:xfrm>
            <a:off x="853395" y="342900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congruent condition</a:t>
            </a:r>
            <a:r>
              <a:rPr lang="en-US" altLang="zh-CN" sz="2400" dirty="0"/>
              <a:t>: “good” share a common key with “White”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81C1E2-34AA-B68E-8F5C-E7A096D21EF5}"/>
              </a:ext>
            </a:extLst>
          </p:cNvPr>
          <p:cNvSpPr txBox="1"/>
          <p:nvPr/>
        </p:nvSpPr>
        <p:spPr>
          <a:xfrm>
            <a:off x="853395" y="4229149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incongruent condition</a:t>
            </a:r>
            <a:r>
              <a:rPr lang="en-US" altLang="zh-CN" sz="2400" dirty="0"/>
              <a:t>: “good” share a common key with “Black”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92A271-4207-0E47-AF14-CAF9B5AED96B}"/>
              </a:ext>
            </a:extLst>
          </p:cNvPr>
          <p:cNvSpPr txBox="1"/>
          <p:nvPr/>
        </p:nvSpPr>
        <p:spPr>
          <a:xfrm>
            <a:off x="853395" y="502929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60 trials in each condition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09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7E3650-3D38-B4A5-0AE4-2F2AC0A7D32E}"/>
              </a:ext>
            </a:extLst>
          </p:cNvPr>
          <p:cNvSpPr txBox="1"/>
          <p:nvPr/>
        </p:nvSpPr>
        <p:spPr>
          <a:xfrm>
            <a:off x="691471" y="846821"/>
            <a:ext cx="1101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Race IAT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47E5E4-A47F-B256-3199-6EAFD04D817F}"/>
              </a:ext>
            </a:extLst>
          </p:cNvPr>
          <p:cNvSpPr txBox="1"/>
          <p:nvPr/>
        </p:nvSpPr>
        <p:spPr>
          <a:xfrm>
            <a:off x="853395" y="1773696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originally, difference in mean RTs between conditions is a measure of implicit racial bias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581A7C-A0F3-C0E3-CCA8-BA69EB27E37F}"/>
              </a:ext>
            </a:extLst>
          </p:cNvPr>
          <p:cNvSpPr txBox="1"/>
          <p:nvPr/>
        </p:nvSpPr>
        <p:spPr>
          <a:xfrm>
            <a:off x="853395" y="3240546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here we use race IAT only as an example of </a:t>
            </a:r>
            <a:r>
              <a:rPr lang="en-US" altLang="zh-CN" sz="2400" u="sng" dirty="0"/>
              <a:t>simple binary decision task</a:t>
            </a:r>
            <a:endParaRPr lang="zh-CN" altLang="en-US" sz="2000" u="sn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439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FEB386-4601-6FF7-529F-BE114BEA8BFA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1,313,275 people provided both their age and RT data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64104F-6C0F-7947-A113-DD32C88C03E3}"/>
              </a:ext>
            </a:extLst>
          </p:cNvPr>
          <p:cNvSpPr txBox="1"/>
          <p:nvPr/>
        </p:nvSpPr>
        <p:spPr>
          <a:xfrm>
            <a:off x="700995" y="177007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Exclude participants</a:t>
            </a:r>
            <a:r>
              <a:rPr lang="en-US" altLang="zh-CN" sz="2400" dirty="0"/>
              <a:t>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B82D86-95C7-6A00-3364-0A2047D96361}"/>
              </a:ext>
            </a:extLst>
          </p:cNvPr>
          <p:cNvSpPr txBox="1"/>
          <p:nvPr/>
        </p:nvSpPr>
        <p:spPr>
          <a:xfrm>
            <a:off x="853395" y="240824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containing any latency of zero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17B2B8-91F1-48AC-C8FE-165A7C1035E6}"/>
              </a:ext>
            </a:extLst>
          </p:cNvPr>
          <p:cNvSpPr txBox="1"/>
          <p:nvPr/>
        </p:nvSpPr>
        <p:spPr>
          <a:xfrm>
            <a:off x="853395" y="307503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with trial number different from the planned 120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110C81-8802-3DF3-30B5-CEF00A8361F3}"/>
              </a:ext>
            </a:extLst>
          </p:cNvPr>
          <p:cNvSpPr txBox="1"/>
          <p:nvPr/>
        </p:nvSpPr>
        <p:spPr>
          <a:xfrm>
            <a:off x="853395" y="374182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with below chance accuracy (&lt; 0.5)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003B20-CD8B-2B8B-8566-B27A56857706}"/>
              </a:ext>
            </a:extLst>
          </p:cNvPr>
          <p:cNvSpPr txBox="1"/>
          <p:nvPr/>
        </p:nvSpPr>
        <p:spPr>
          <a:xfrm>
            <a:off x="853395" y="440715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without any error in the two conditions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0B1F66-BD42-E165-D8CD-154CC9DE7B27}"/>
              </a:ext>
            </a:extLst>
          </p:cNvPr>
          <p:cNvSpPr txBox="1"/>
          <p:nvPr/>
        </p:nvSpPr>
        <p:spPr>
          <a:xfrm>
            <a:off x="853395" y="507248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with more than 12 RTs (10% trials) faster than 300 </a:t>
            </a:r>
            <a:r>
              <a:rPr lang="en-US" altLang="zh-CN" sz="2400" dirty="0" err="1"/>
              <a:t>ms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77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FEB386-4601-6FF7-529F-BE114BEA8BFA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1,313,275 people provided both their age and RT data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64104F-6C0F-7947-A113-DD32C88C03E3}"/>
              </a:ext>
            </a:extLst>
          </p:cNvPr>
          <p:cNvSpPr txBox="1"/>
          <p:nvPr/>
        </p:nvSpPr>
        <p:spPr>
          <a:xfrm>
            <a:off x="700995" y="177007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Exclude participants</a:t>
            </a:r>
            <a:r>
              <a:rPr lang="en-US" altLang="zh-CN" sz="2400" dirty="0"/>
              <a:t>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B82D86-95C7-6A00-3364-0A2047D96361}"/>
              </a:ext>
            </a:extLst>
          </p:cNvPr>
          <p:cNvSpPr txBox="1"/>
          <p:nvPr/>
        </p:nvSpPr>
        <p:spPr>
          <a:xfrm>
            <a:off x="853395" y="2537969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older than 80 years old </a:t>
            </a:r>
            <a:r>
              <a:rPr lang="en-US" altLang="zh-CN" sz="2000" dirty="0"/>
              <a:t>(due to low sample size in very high age)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965F8F-DD99-9998-1ADC-A9CF1DF4EF18}"/>
              </a:ext>
            </a:extLst>
          </p:cNvPr>
          <p:cNvSpPr txBox="1"/>
          <p:nvPr/>
        </p:nvSpPr>
        <p:spPr>
          <a:xfrm>
            <a:off x="853395" y="3396702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with any parameter estimates beyond the bounds of our (very broad) uniform priors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EDECC9-6081-49D3-F477-52548598DEFE}"/>
              </a:ext>
            </a:extLst>
          </p:cNvPr>
          <p:cNvSpPr txBox="1"/>
          <p:nvPr/>
        </p:nvSpPr>
        <p:spPr>
          <a:xfrm>
            <a:off x="1704976" y="4624767"/>
            <a:ext cx="948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疑问：这是怎么做到的？按理说，如果参数的先验分布是一个</a:t>
            </a:r>
            <a:r>
              <a:rPr lang="en-US" altLang="zh-CN" dirty="0">
                <a:solidFill>
                  <a:srgbClr val="FF0000"/>
                </a:solidFill>
              </a:rPr>
              <a:t>uniform distribution</a:t>
            </a:r>
            <a:r>
              <a:rPr lang="zh-CN" altLang="en-US" dirty="0">
                <a:solidFill>
                  <a:srgbClr val="FF0000"/>
                </a:solidFill>
              </a:rPr>
              <a:t>，则后验分布无论如何都不会超出先验分布规定的参数取值范围。或者作者是去除了后验分布非常贴近参数取值范围边界的被试？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410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FEB386-4601-6FF7-529F-BE114BEA8BFA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1,185,882 people constitute the final sample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75CCE0-2510-D1BE-5160-C4D6EB224B4F}"/>
              </a:ext>
            </a:extLst>
          </p:cNvPr>
          <p:cNvSpPr txBox="1"/>
          <p:nvPr/>
        </p:nvSpPr>
        <p:spPr>
          <a:xfrm>
            <a:off x="853395" y="1887299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robust sample size across the entire age span of 10 to 80 years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1A2BD2-350F-015E-ABF5-A030F7C96C27}"/>
              </a:ext>
            </a:extLst>
          </p:cNvPr>
          <p:cNvSpPr txBox="1"/>
          <p:nvPr/>
        </p:nvSpPr>
        <p:spPr>
          <a:xfrm>
            <a:off x="853395" y="2772427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38.69% were female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76E47C-ADC1-61F3-BEF0-D75E5BE4AADA}"/>
              </a:ext>
            </a:extLst>
          </p:cNvPr>
          <p:cNvSpPr txBox="1"/>
          <p:nvPr/>
        </p:nvSpPr>
        <p:spPr>
          <a:xfrm>
            <a:off x="853395" y="365755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46.89% completed college-level education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E969F5-05BB-E6E5-4B63-3838A3AB7495}"/>
              </a:ext>
            </a:extLst>
          </p:cNvPr>
          <p:cNvSpPr txBox="1"/>
          <p:nvPr/>
        </p:nvSpPr>
        <p:spPr>
          <a:xfrm>
            <a:off x="853395" y="4542683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84.06% were born in the United States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11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FEB386-4601-6FF7-529F-BE114BEA8BFA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Diffusion model</a:t>
            </a:r>
            <a:r>
              <a:rPr lang="en-US" altLang="zh-CN" sz="2400" dirty="0"/>
              <a:t>: </a:t>
            </a:r>
            <a:r>
              <a:rPr lang="en-US" altLang="zh-CN" sz="2400" u="sng" dirty="0"/>
              <a:t>standard Wiener process</a:t>
            </a:r>
            <a:r>
              <a:rPr lang="en-US" altLang="zh-CN" sz="2400" dirty="0"/>
              <a:t> + </a:t>
            </a:r>
            <a:r>
              <a:rPr lang="en-US" altLang="zh-CN" sz="2400" u="sng" dirty="0"/>
              <a:t>drift</a:t>
            </a:r>
            <a:endParaRPr lang="zh-CN" altLang="en-US" sz="20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F5C9E-AC1D-1C7C-BCC9-4E3BA50136AF}"/>
              </a:ext>
            </a:extLst>
          </p:cNvPr>
          <p:cNvSpPr txBox="1"/>
          <p:nvPr/>
        </p:nvSpPr>
        <p:spPr>
          <a:xfrm>
            <a:off x="853395" y="1887299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properties of standard Wiener process: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8BF881-37C9-6624-1D7E-D604FD32E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9282"/>
            <a:ext cx="12192000" cy="12394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E4FF27-7717-735C-8C98-2EA0B2E1C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09" y="4462309"/>
            <a:ext cx="6175381" cy="13935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61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FEB386-4601-6FF7-529F-BE114BEA8BFA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Diffusion model</a:t>
            </a:r>
            <a:r>
              <a:rPr lang="en-US" altLang="zh-CN" sz="2400" dirty="0"/>
              <a:t>: </a:t>
            </a:r>
            <a:r>
              <a:rPr lang="en-US" altLang="zh-CN" sz="2400" u="sng" dirty="0"/>
              <a:t>standard Wiener process</a:t>
            </a:r>
            <a:r>
              <a:rPr lang="en-US" altLang="zh-CN" sz="2400" dirty="0"/>
              <a:t> + </a:t>
            </a:r>
            <a:r>
              <a:rPr lang="en-US" altLang="zh-CN" sz="2400" u="sng" dirty="0"/>
              <a:t>drift</a:t>
            </a:r>
            <a:endParaRPr lang="zh-CN" altLang="en-US" sz="2000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F5C9E-AC1D-1C7C-BCC9-4E3BA50136AF}"/>
              </a:ext>
            </a:extLst>
          </p:cNvPr>
          <p:cNvSpPr txBox="1"/>
          <p:nvPr/>
        </p:nvSpPr>
        <p:spPr>
          <a:xfrm>
            <a:off x="853395" y="1887299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standard Wiener process with additional drift: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EED041-8016-AD52-1DCF-62CD93332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123" y="2527173"/>
            <a:ext cx="6433753" cy="9685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4ADFD69-8BF7-EA64-45AF-401A43CBC3AE}"/>
              </a:ext>
            </a:extLst>
          </p:cNvPr>
          <p:cNvSpPr txBox="1"/>
          <p:nvPr/>
        </p:nvSpPr>
        <p:spPr>
          <a:xfrm>
            <a:off x="853395" y="3673884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i="1" dirty="0"/>
              <a:t>v</a:t>
            </a:r>
            <a:r>
              <a:rPr lang="en-US" altLang="zh-CN" sz="2400" dirty="0"/>
              <a:t> is drift rate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F41E77-A7B2-0C2C-D0EC-6FAC498848C2}"/>
              </a:ext>
            </a:extLst>
          </p:cNvPr>
          <p:cNvSpPr txBox="1"/>
          <p:nvPr/>
        </p:nvSpPr>
        <p:spPr>
          <a:xfrm>
            <a:off x="853394" y="435893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decision is made when any boundary is reached (correct vs. incorrect)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F85F51-1EB8-E852-6944-0CDAD446D2F8}"/>
              </a:ext>
            </a:extLst>
          </p:cNvPr>
          <p:cNvSpPr txBox="1"/>
          <p:nvPr/>
        </p:nvSpPr>
        <p:spPr>
          <a:xfrm>
            <a:off x="853394" y="5043976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additive time </a:t>
            </a:r>
            <a:r>
              <a:rPr lang="el-GR" altLang="zh-CN" sz="2400" b="1" i="1" dirty="0"/>
              <a:t>τ</a:t>
            </a:r>
            <a:r>
              <a:rPr lang="en-US" altLang="zh-CN" sz="2400" dirty="0"/>
              <a:t> for non-decision process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E3283FC-DEE3-DD0C-EE4F-EA3FB3355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74" y="602528"/>
            <a:ext cx="4293876" cy="3293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150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Fit DM to observed data with </a:t>
            </a:r>
            <a:r>
              <a:rPr lang="en-US" altLang="zh-CN" sz="2400" b="1" dirty="0"/>
              <a:t>6 free parameters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5CEA17-FE8E-5157-9234-E8E26F68BE1B}"/>
              </a:ext>
            </a:extLst>
          </p:cNvPr>
          <p:cNvSpPr txBox="1"/>
          <p:nvPr/>
        </p:nvSpPr>
        <p:spPr>
          <a:xfrm>
            <a:off x="853395" y="1912945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drift rate </a:t>
            </a:r>
            <a:r>
              <a:rPr lang="en-US" altLang="zh-CN" sz="2400" b="1" i="1" dirty="0"/>
              <a:t>v</a:t>
            </a:r>
            <a:r>
              <a:rPr lang="en-US" altLang="zh-CN" sz="2400" dirty="0"/>
              <a:t> separately for two conditions (congruent vs. incongruent)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FC5A86-A66F-2C17-1751-4AB0A643AE00}"/>
              </a:ext>
            </a:extLst>
          </p:cNvPr>
          <p:cNvSpPr txBox="1"/>
          <p:nvPr/>
        </p:nvSpPr>
        <p:spPr>
          <a:xfrm>
            <a:off x="853394" y="297904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boundary separation </a:t>
            </a:r>
            <a:r>
              <a:rPr lang="en-US" altLang="zh-CN" sz="2400" b="1" i="1" dirty="0"/>
              <a:t>a</a:t>
            </a:r>
            <a:r>
              <a:rPr lang="en-US" altLang="zh-CN" sz="2400" dirty="0"/>
              <a:t> separately for two conditions 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D835257-8F16-3F10-26C7-61AFC2AEB3C9}"/>
              </a:ext>
            </a:extLst>
          </p:cNvPr>
          <p:cNvSpPr txBox="1"/>
          <p:nvPr/>
        </p:nvSpPr>
        <p:spPr>
          <a:xfrm>
            <a:off x="853394" y="4045151"/>
            <a:ext cx="11243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i="1" dirty="0"/>
              <a:t>v</a:t>
            </a:r>
            <a:r>
              <a:rPr lang="en-US" altLang="zh-CN" sz="2400" dirty="0"/>
              <a:t> and </a:t>
            </a:r>
            <a:r>
              <a:rPr lang="en-US" altLang="zh-CN" sz="2400" b="1" i="1" dirty="0"/>
              <a:t>a</a:t>
            </a:r>
            <a:r>
              <a:rPr lang="en-US" altLang="zh-CN" sz="2400" dirty="0"/>
              <a:t> have been shown to differ across the IAT conditions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Klauer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2007)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831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Fit DM to observed data with </a:t>
            </a:r>
            <a:r>
              <a:rPr lang="en-US" altLang="zh-CN" sz="2400" b="1" dirty="0"/>
              <a:t>6 free parameters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5CEA17-FE8E-5157-9234-E8E26F68BE1B}"/>
              </a:ext>
            </a:extLst>
          </p:cNvPr>
          <p:cNvSpPr txBox="1"/>
          <p:nvPr/>
        </p:nvSpPr>
        <p:spPr>
          <a:xfrm>
            <a:off x="853395" y="1808912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non-decision time separately for correct and incorrect responses, </a:t>
            </a:r>
            <a:r>
              <a:rPr lang="el-GR" altLang="zh-CN" sz="2400" b="1" i="1" dirty="0"/>
              <a:t>τ</a:t>
            </a:r>
            <a:r>
              <a:rPr lang="en-US" altLang="zh-CN" sz="2400" b="1" i="1" baseline="-25000" dirty="0"/>
              <a:t>c</a:t>
            </a:r>
            <a:r>
              <a:rPr lang="en-US" altLang="zh-CN" sz="2400" dirty="0"/>
              <a:t> and </a:t>
            </a:r>
            <a:r>
              <a:rPr lang="el-GR" altLang="zh-CN" sz="2400" b="1" i="1" dirty="0"/>
              <a:t>τ</a:t>
            </a:r>
            <a:r>
              <a:rPr lang="en-US" altLang="zh-CN" sz="2400" b="1" i="1" baseline="-25000" dirty="0"/>
              <a:t>n</a:t>
            </a:r>
            <a:r>
              <a:rPr lang="en-US" altLang="zh-CN" sz="2400" b="1" i="1" dirty="0"/>
              <a:t> </a:t>
            </a:r>
            <a:r>
              <a:rPr lang="en-US" altLang="zh-CN" sz="2400" dirty="0"/>
              <a:t>(constant in two conditions)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47A18D-258F-6B5B-0ECE-1759E4F2C7F3}"/>
              </a:ext>
            </a:extLst>
          </p:cNvPr>
          <p:cNvSpPr txBox="1"/>
          <p:nvPr/>
        </p:nvSpPr>
        <p:spPr>
          <a:xfrm>
            <a:off x="853395" y="3013501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 IAT, trials do not terminate immediately following a wrong response but require participants to correct their response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148F2C-0374-029A-7BFA-B80C867EBA42}"/>
              </a:ext>
            </a:extLst>
          </p:cNvPr>
          <p:cNvSpPr txBox="1"/>
          <p:nvPr/>
        </p:nvSpPr>
        <p:spPr>
          <a:xfrm>
            <a:off x="853395" y="421809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time for this additional response was taken into the incorrect non-decision time </a:t>
            </a:r>
            <a:r>
              <a:rPr lang="el-GR" altLang="zh-CN" sz="2000" b="1" i="1" dirty="0"/>
              <a:t>τ</a:t>
            </a:r>
            <a:r>
              <a:rPr lang="en-US" altLang="zh-CN" sz="2000" b="1" i="1" baseline="-25000" dirty="0"/>
              <a:t>n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CDAAB1-D157-FC1C-10FF-E51C7413235D}"/>
              </a:ext>
            </a:extLst>
          </p:cNvPr>
          <p:cNvSpPr txBox="1"/>
          <p:nvPr/>
        </p:nvSpPr>
        <p:spPr>
          <a:xfrm>
            <a:off x="853395" y="5053347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relative starting point </a:t>
            </a:r>
            <a:r>
              <a:rPr lang="en-US" altLang="zh-CN" sz="2400" b="1" i="1" dirty="0"/>
              <a:t>z</a:t>
            </a:r>
            <a:r>
              <a:rPr lang="en-US" altLang="zh-CN" sz="2400" dirty="0"/>
              <a:t> was fixed to 0.5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992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Fit DM to observed data with </a:t>
            </a:r>
            <a:r>
              <a:rPr lang="en-US" altLang="zh-CN" sz="2400" b="1" dirty="0"/>
              <a:t>6 free parameters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5CEA17-FE8E-5157-9234-E8E26F68BE1B}"/>
              </a:ext>
            </a:extLst>
          </p:cNvPr>
          <p:cNvSpPr txBox="1"/>
          <p:nvPr/>
        </p:nvSpPr>
        <p:spPr>
          <a:xfrm>
            <a:off x="853395" y="2005597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inter-trial variability parameters were not considered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7C5A7F-1BC8-4BBC-93A5-8C79A84AC396}"/>
              </a:ext>
            </a:extLst>
          </p:cNvPr>
          <p:cNvSpPr txBox="1"/>
          <p:nvPr/>
        </p:nvSpPr>
        <p:spPr>
          <a:xfrm>
            <a:off x="853395" y="3198167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these parameters are hard to estimate, and trial number for IAT is rather low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54813A-F3B6-4DAA-2644-FC019EEBAE33}"/>
              </a:ext>
            </a:extLst>
          </p:cNvPr>
          <p:cNvSpPr txBox="1"/>
          <p:nvPr/>
        </p:nvSpPr>
        <p:spPr>
          <a:xfrm>
            <a:off x="5105400" y="373010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Lerche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2017)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28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Priors for parameters: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9AD41B-AE55-AC83-D31A-9536C889C1FB}"/>
              </a:ext>
            </a:extLst>
          </p:cNvPr>
          <p:cNvSpPr txBox="1"/>
          <p:nvPr/>
        </p:nvSpPr>
        <p:spPr>
          <a:xfrm>
            <a:off x="853395" y="177007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broad uniform prior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129154-1CE1-62CC-6E5C-098E04F0A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612" y="2557019"/>
            <a:ext cx="6214776" cy="18692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592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Bayesian parameter estimation via specialized neural networks </a:t>
            </a:r>
            <a:r>
              <a:rPr lang="en-US" altLang="zh-CN" sz="2400" i="1" dirty="0" err="1"/>
              <a:t>BayesFlow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868F65-DBDE-2A14-6026-094ED8603AE9}"/>
              </a:ext>
            </a:extLst>
          </p:cNvPr>
          <p:cNvSpPr txBox="1"/>
          <p:nvPr/>
        </p:nvSpPr>
        <p:spPr>
          <a:xfrm>
            <a:off x="5105400" y="157001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Radev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2020)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8A3D70-845A-D757-AF3B-B9D6DDF9DE73}"/>
              </a:ext>
            </a:extLst>
          </p:cNvPr>
          <p:cNvSpPr txBox="1"/>
          <p:nvPr/>
        </p:nvSpPr>
        <p:spPr>
          <a:xfrm>
            <a:off x="1381125" y="574869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dirty="0"/>
              <a:t>https://github.com/stefanradev93/BayesFlow</a:t>
            </a:r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1BD13E-EA01-3CF1-6277-67F0E0E7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2129389"/>
            <a:ext cx="9429750" cy="33331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091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Bayesian parameter estimation via specialized neural networks </a:t>
            </a:r>
            <a:r>
              <a:rPr lang="en-US" altLang="zh-CN" sz="2400" i="1" dirty="0" err="1"/>
              <a:t>BayesFlow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8615EF-20DB-6DF2-39BB-32EF28F7977C}"/>
              </a:ext>
            </a:extLst>
          </p:cNvPr>
          <p:cNvSpPr txBox="1"/>
          <p:nvPr/>
        </p:nvSpPr>
        <p:spPr>
          <a:xfrm>
            <a:off x="700996" y="1842603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Two networks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F7972F-325B-A1AE-7FAB-20913ABE3959}"/>
              </a:ext>
            </a:extLst>
          </p:cNvPr>
          <p:cNvSpPr txBox="1"/>
          <p:nvPr/>
        </p:nvSpPr>
        <p:spPr>
          <a:xfrm>
            <a:off x="853395" y="2452202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summary network </a:t>
            </a:r>
            <a:r>
              <a:rPr lang="en-US" altLang="zh-CN" sz="2400" b="1" i="1" dirty="0"/>
              <a:t>h</a:t>
            </a:r>
            <a:r>
              <a:rPr lang="en-US" altLang="zh-CN" sz="2400" dirty="0"/>
              <a:t>: reduce datasets (RTs) of arbitrary size to fixed-size vector representations (which were then used by the inference network)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5AFB18-1629-92BC-17A1-9C48D6A429EC}"/>
              </a:ext>
            </a:extLst>
          </p:cNvPr>
          <p:cNvSpPr txBox="1"/>
          <p:nvPr/>
        </p:nvSpPr>
        <p:spPr>
          <a:xfrm>
            <a:off x="853395" y="3574802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inference network </a:t>
            </a:r>
            <a:r>
              <a:rPr lang="en-US" altLang="zh-CN" sz="2400" b="1" i="1" dirty="0"/>
              <a:t>f</a:t>
            </a:r>
            <a:r>
              <a:rPr lang="en-US" altLang="zh-CN" sz="2400" dirty="0"/>
              <a:t>: generate samples from an approximate posterior via an invertible neural network (INN)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112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6B4E5A-6052-0BC0-6AD4-5B59E1249616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networks were trained via simulations from the full Bayesian model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34BB00-75C4-BFCC-E7B7-4D6EC690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168" y="1628775"/>
            <a:ext cx="4919663" cy="11985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1ABEF7A-5A6F-2DBB-D7E1-FD2EAE97388B}"/>
              </a:ext>
            </a:extLst>
          </p:cNvPr>
          <p:cNvSpPr txBox="1"/>
          <p:nvPr/>
        </p:nvSpPr>
        <p:spPr>
          <a:xfrm>
            <a:off x="853395" y="319964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sample parameters from priors, and then generate synthetic datasets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F72DDC-C453-2F02-8E4F-0D67D0E69AE4}"/>
              </a:ext>
            </a:extLst>
          </p:cNvPr>
          <p:cNvSpPr txBox="1"/>
          <p:nvPr/>
        </p:nvSpPr>
        <p:spPr>
          <a:xfrm>
            <a:off x="853394" y="403358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50,000 simulations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3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97DD53-A8EE-AF51-D54F-BE160381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314325"/>
            <a:ext cx="5048250" cy="592455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357E0CB-C32C-A3EC-CF43-4103C5AAFEC1}"/>
              </a:ext>
            </a:extLst>
          </p:cNvPr>
          <p:cNvSpPr/>
          <p:nvPr/>
        </p:nvSpPr>
        <p:spPr>
          <a:xfrm>
            <a:off x="7477125" y="5181600"/>
            <a:ext cx="2647950" cy="56197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FE6B97-B343-8BF7-4516-0FAB29B9B8E8}"/>
              </a:ext>
            </a:extLst>
          </p:cNvPr>
          <p:cNvSpPr txBox="1"/>
          <p:nvPr/>
        </p:nvSpPr>
        <p:spPr>
          <a:xfrm>
            <a:off x="7950611" y="5715000"/>
            <a:ext cx="1700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</a:rPr>
              <a:t>K-L divergence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B9D833-50A8-0935-EF80-A3BBB1479640}"/>
              </a:ext>
            </a:extLst>
          </p:cNvPr>
          <p:cNvSpPr txBox="1"/>
          <p:nvPr/>
        </p:nvSpPr>
        <p:spPr>
          <a:xfrm>
            <a:off x="491445" y="2314575"/>
            <a:ext cx="557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networks’ parameters are optimized via standard backpropagation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398881-A981-696A-BDEC-9E5085B50BA6}"/>
              </a:ext>
            </a:extLst>
          </p:cNvPr>
          <p:cNvSpPr txBox="1"/>
          <p:nvPr/>
        </p:nvSpPr>
        <p:spPr>
          <a:xfrm>
            <a:off x="491445" y="1077910"/>
            <a:ext cx="615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Simulated data were fed to the neural networks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60D895-98F3-D99F-AE74-C561BCD63FEF}"/>
              </a:ext>
            </a:extLst>
          </p:cNvPr>
          <p:cNvSpPr txBox="1"/>
          <p:nvPr/>
        </p:nvSpPr>
        <p:spPr>
          <a:xfrm>
            <a:off x="491444" y="3920572"/>
            <a:ext cx="557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networks were trained to minimize the </a:t>
            </a:r>
            <a:r>
              <a:rPr lang="en-US" altLang="zh-CN" sz="2400" b="1" u="sng" dirty="0" err="1"/>
              <a:t>Kullback</a:t>
            </a:r>
            <a:r>
              <a:rPr lang="en-US" altLang="zh-CN" sz="2400" b="1" u="sng" dirty="0"/>
              <a:t>–</a:t>
            </a:r>
            <a:r>
              <a:rPr lang="en-US" altLang="zh-CN" sz="2400" b="1" u="sng" dirty="0" err="1"/>
              <a:t>Leibler</a:t>
            </a:r>
            <a:r>
              <a:rPr lang="en-US" altLang="zh-CN" sz="2400" b="1" u="sng" dirty="0"/>
              <a:t> divergence</a:t>
            </a:r>
            <a:endParaRPr lang="zh-CN" altLang="en-US" sz="2000" b="1" i="1" u="sn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637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97218A-EFEA-91DD-164F-FD8FD499E370}"/>
              </a:ext>
            </a:extLst>
          </p:cNvPr>
          <p:cNvSpPr txBox="1"/>
          <p:nvPr/>
        </p:nvSpPr>
        <p:spPr>
          <a:xfrm>
            <a:off x="700996" y="100217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Kullback</a:t>
            </a:r>
            <a:r>
              <a:rPr lang="en-US" altLang="zh-CN" sz="2400" dirty="0"/>
              <a:t>–</a:t>
            </a:r>
            <a:r>
              <a:rPr lang="en-US" altLang="zh-CN" sz="2400" dirty="0" err="1"/>
              <a:t>Leibler</a:t>
            </a:r>
            <a:r>
              <a:rPr lang="en-US" altLang="zh-CN" sz="2400" dirty="0"/>
              <a:t> divergence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A3EA18-6B1B-839E-9266-41A1CAAD33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82" r="38033"/>
          <a:stretch/>
        </p:blipFill>
        <p:spPr>
          <a:xfrm>
            <a:off x="5209200" y="922054"/>
            <a:ext cx="1722120" cy="54178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B2D6325-265F-0038-966F-AD844E593784}"/>
              </a:ext>
            </a:extLst>
          </p:cNvPr>
          <p:cNvSpPr txBox="1"/>
          <p:nvPr/>
        </p:nvSpPr>
        <p:spPr>
          <a:xfrm>
            <a:off x="853395" y="1770070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divergence (statistical distance) of probability distribution </a:t>
            </a:r>
            <a:r>
              <a:rPr lang="en-US" altLang="zh-CN" sz="2400" b="1" i="1" dirty="0"/>
              <a:t>Q</a:t>
            </a:r>
            <a:r>
              <a:rPr lang="en-US" altLang="zh-CN" sz="2400" dirty="0"/>
              <a:t> from probability distribution </a:t>
            </a:r>
            <a:r>
              <a:rPr lang="en-US" altLang="zh-CN" sz="2400" b="1" i="1" dirty="0"/>
              <a:t>P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25D7DE-4EBD-0D2A-EB26-606964ACA33E}"/>
              </a:ext>
            </a:extLst>
          </p:cNvPr>
          <p:cNvSpPr txBox="1"/>
          <p:nvPr/>
        </p:nvSpPr>
        <p:spPr>
          <a:xfrm>
            <a:off x="853395" y="301350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different from geometric distance because it is asymmetric!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844F6A-5E48-D6C2-6F87-B76A7D7FEA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27" r="23288"/>
          <a:stretch/>
        </p:blipFill>
        <p:spPr>
          <a:xfrm>
            <a:off x="8846608" y="2967336"/>
            <a:ext cx="3272368" cy="4616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E185A1C-C06C-FBF1-7BD9-4A1E62A2D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987" y="4195762"/>
            <a:ext cx="5629275" cy="113347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777DC55-7FD6-C6D3-33EC-271560A7D70B}"/>
              </a:ext>
            </a:extLst>
          </p:cNvPr>
          <p:cNvSpPr txBox="1"/>
          <p:nvPr/>
        </p:nvSpPr>
        <p:spPr>
          <a:xfrm>
            <a:off x="7860128" y="4347000"/>
            <a:ext cx="2436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also called relative entropy!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713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7E3D0C-74A5-821D-5A5B-0E6263520F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368"/>
          <a:stretch/>
        </p:blipFill>
        <p:spPr>
          <a:xfrm>
            <a:off x="278164" y="1033463"/>
            <a:ext cx="5655911" cy="49625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000CFE-5B2F-6D8B-19F5-E61D39832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179" y="1228725"/>
            <a:ext cx="1752600" cy="10953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EE3E074-B221-0AB3-3E97-B4CEECE46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537" y="928687"/>
            <a:ext cx="4276725" cy="6000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E8EC683-9DE2-DC81-8377-1BD7428FC1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7" y="1552574"/>
            <a:ext cx="4319055" cy="50482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D983730-262D-4282-3DB4-F5813813B910}"/>
              </a:ext>
            </a:extLst>
          </p:cNvPr>
          <p:cNvSpPr txBox="1"/>
          <p:nvPr/>
        </p:nvSpPr>
        <p:spPr>
          <a:xfrm>
            <a:off x="6257927" y="2147886"/>
            <a:ext cx="55149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Observed data is better characterized by uniform (rather than binomial) distribution</a:t>
            </a:r>
            <a:endParaRPr lang="zh-CN" altLang="en-US" sz="22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970345-FF18-684E-E1F9-AF9CF373AAFD}"/>
              </a:ext>
            </a:extLst>
          </p:cNvPr>
          <p:cNvSpPr txBox="1"/>
          <p:nvPr/>
        </p:nvSpPr>
        <p:spPr>
          <a:xfrm>
            <a:off x="6257927" y="3429000"/>
            <a:ext cx="55149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The well-known Akaike information criterion (AIC) is based on K-L divergence!</a:t>
            </a:r>
            <a:endParaRPr lang="zh-CN" altLang="en-US" sz="22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985589-AC66-CB4E-046E-DF80415FCA5C}"/>
              </a:ext>
            </a:extLst>
          </p:cNvPr>
          <p:cNvSpPr txBox="1"/>
          <p:nvPr/>
        </p:nvSpPr>
        <p:spPr>
          <a:xfrm>
            <a:off x="6257927" y="5305426"/>
            <a:ext cx="55149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Introduction of K-L divergence: https://www.countbayesie.com/blog/2017/5/9/kullback-leibler-divergence-explained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599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2EE4FD-B3B3-2B69-BE4C-00809BABD36F}"/>
              </a:ext>
            </a:extLst>
          </p:cNvPr>
          <p:cNvSpPr txBox="1"/>
          <p:nvPr/>
        </p:nvSpPr>
        <p:spPr>
          <a:xfrm>
            <a:off x="700996" y="81514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K-L divergence in </a:t>
            </a:r>
            <a:r>
              <a:rPr lang="en-US" altLang="zh-CN" sz="2400" i="1" dirty="0" err="1"/>
              <a:t>Bayesflow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ABE4EBA-A308-26D5-BBCB-6A350BA8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12" y="1620775"/>
            <a:ext cx="5629275" cy="1133475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9309035-0E68-5EB4-8D6F-05B8C643D09F}"/>
              </a:ext>
            </a:extLst>
          </p:cNvPr>
          <p:cNvCxnSpPr/>
          <p:nvPr/>
        </p:nvCxnSpPr>
        <p:spPr>
          <a:xfrm flipV="1">
            <a:off x="5553075" y="1620775"/>
            <a:ext cx="0" cy="4333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B7769AA-9C15-ACBB-4E58-504955E362CB}"/>
              </a:ext>
            </a:extLst>
          </p:cNvPr>
          <p:cNvSpPr txBox="1"/>
          <p:nvPr/>
        </p:nvSpPr>
        <p:spPr>
          <a:xfrm>
            <a:off x="4843800" y="1187327"/>
            <a:ext cx="2904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 posterior distribution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EA1C97C-48A7-B8FE-4FCC-A1ECD3A318BD}"/>
              </a:ext>
            </a:extLst>
          </p:cNvPr>
          <p:cNvCxnSpPr>
            <a:cxnSpLocks/>
          </p:cNvCxnSpPr>
          <p:nvPr/>
        </p:nvCxnSpPr>
        <p:spPr>
          <a:xfrm>
            <a:off x="6972300" y="2406588"/>
            <a:ext cx="419100" cy="1809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3039C7D-61F5-C9F9-5098-8E5B28B5EC6F}"/>
              </a:ext>
            </a:extLst>
          </p:cNvPr>
          <p:cNvSpPr txBox="1"/>
          <p:nvPr/>
        </p:nvSpPr>
        <p:spPr>
          <a:xfrm>
            <a:off x="7181850" y="2587563"/>
            <a:ext cx="4933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posterior distribution from inference network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70494C-5501-85BA-1081-69AFC2B8D0CB}"/>
              </a:ext>
            </a:extLst>
          </p:cNvPr>
          <p:cNvSpPr txBox="1"/>
          <p:nvPr/>
        </p:nvSpPr>
        <p:spPr>
          <a:xfrm>
            <a:off x="700996" y="333881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parameters </a:t>
            </a:r>
            <a:r>
              <a:rPr lang="el-GR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ϕ</a:t>
            </a:r>
            <a:r>
              <a:rPr lang="en-US" altLang="zh-CN" sz="2400" dirty="0"/>
              <a:t> for inference network are optimized based on: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755DF3-48DE-E162-A9F3-197D70879F56}"/>
              </a:ext>
            </a:extLst>
          </p:cNvPr>
          <p:cNvSpPr txBox="1"/>
          <p:nvPr/>
        </p:nvSpPr>
        <p:spPr>
          <a:xfrm>
            <a:off x="5819804" y="59285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Radev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2020)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D32447B-7CEA-736B-0AF0-F8F058040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394" y="3836841"/>
            <a:ext cx="5929312" cy="2491791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4207638-25DF-E905-4E79-AE8E0177266F}"/>
              </a:ext>
            </a:extLst>
          </p:cNvPr>
          <p:cNvSpPr/>
          <p:nvPr/>
        </p:nvSpPr>
        <p:spPr>
          <a:xfrm>
            <a:off x="4133850" y="3924300"/>
            <a:ext cx="590550" cy="46073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B3CC7040-E4FA-9B13-774F-14B0360D2D6D}"/>
              </a:ext>
            </a:extLst>
          </p:cNvPr>
          <p:cNvSpPr/>
          <p:nvPr/>
        </p:nvSpPr>
        <p:spPr>
          <a:xfrm>
            <a:off x="4724400" y="3798058"/>
            <a:ext cx="4819650" cy="211967"/>
          </a:xfrm>
          <a:custGeom>
            <a:avLst/>
            <a:gdLst>
              <a:gd name="connsiteX0" fmla="*/ 0 w 4819650"/>
              <a:gd name="connsiteY0" fmla="*/ 116717 h 211967"/>
              <a:gd name="connsiteX1" fmla="*/ 1885950 w 4819650"/>
              <a:gd name="connsiteY1" fmla="*/ 2417 h 211967"/>
              <a:gd name="connsiteX2" fmla="*/ 4819650 w 4819650"/>
              <a:gd name="connsiteY2" fmla="*/ 211967 h 211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19650" h="211967">
                <a:moveTo>
                  <a:pt x="0" y="116717"/>
                </a:moveTo>
                <a:cubicBezTo>
                  <a:pt x="541337" y="51629"/>
                  <a:pt x="1082675" y="-13458"/>
                  <a:pt x="1885950" y="2417"/>
                </a:cubicBezTo>
                <a:cubicBezTo>
                  <a:pt x="2689225" y="18292"/>
                  <a:pt x="3754437" y="115129"/>
                  <a:pt x="4819650" y="21196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2723539-5517-7F27-774A-D3AD81A48D26}"/>
              </a:ext>
            </a:extLst>
          </p:cNvPr>
          <p:cNvSpPr txBox="1"/>
          <p:nvPr/>
        </p:nvSpPr>
        <p:spPr>
          <a:xfrm>
            <a:off x="8632060" y="4010025"/>
            <a:ext cx="30551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average K-L divergence across simulated datasets </a:t>
            </a:r>
            <a:r>
              <a:rPr lang="en-US" altLang="zh-CN" sz="2000" b="1" i="1" dirty="0">
                <a:solidFill>
                  <a:srgbClr val="FF0000"/>
                </a:solidFill>
              </a:rPr>
              <a:t>x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(weighted by probability density of </a:t>
            </a:r>
            <a:r>
              <a:rPr lang="en-US" altLang="zh-CN" sz="2000" b="1" i="1" dirty="0">
                <a:solidFill>
                  <a:srgbClr val="FF0000"/>
                </a:solidFill>
              </a:rPr>
              <a:t>x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23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2EE4FD-B3B3-2B69-BE4C-00809BABD36F}"/>
              </a:ext>
            </a:extLst>
          </p:cNvPr>
          <p:cNvSpPr txBox="1"/>
          <p:nvPr/>
        </p:nvSpPr>
        <p:spPr>
          <a:xfrm>
            <a:off x="700996" y="81514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K-L divergence in </a:t>
            </a:r>
            <a:r>
              <a:rPr lang="en-US" altLang="zh-CN" sz="2400" i="1" dirty="0" err="1"/>
              <a:t>Bayesflow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ABE4EBA-A308-26D5-BBCB-6A350BA8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12" y="1620775"/>
            <a:ext cx="5629275" cy="1133475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9309035-0E68-5EB4-8D6F-05B8C643D09F}"/>
              </a:ext>
            </a:extLst>
          </p:cNvPr>
          <p:cNvCxnSpPr/>
          <p:nvPr/>
        </p:nvCxnSpPr>
        <p:spPr>
          <a:xfrm flipV="1">
            <a:off x="5553075" y="1620775"/>
            <a:ext cx="0" cy="4333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B7769AA-9C15-ACBB-4E58-504955E362CB}"/>
              </a:ext>
            </a:extLst>
          </p:cNvPr>
          <p:cNvSpPr txBox="1"/>
          <p:nvPr/>
        </p:nvSpPr>
        <p:spPr>
          <a:xfrm>
            <a:off x="4843800" y="1187327"/>
            <a:ext cx="2904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 posterior distribution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EA1C97C-48A7-B8FE-4FCC-A1ECD3A318BD}"/>
              </a:ext>
            </a:extLst>
          </p:cNvPr>
          <p:cNvCxnSpPr>
            <a:cxnSpLocks/>
          </p:cNvCxnSpPr>
          <p:nvPr/>
        </p:nvCxnSpPr>
        <p:spPr>
          <a:xfrm>
            <a:off x="6972300" y="2406588"/>
            <a:ext cx="419100" cy="1809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3039C7D-61F5-C9F9-5098-8E5B28B5EC6F}"/>
              </a:ext>
            </a:extLst>
          </p:cNvPr>
          <p:cNvSpPr txBox="1"/>
          <p:nvPr/>
        </p:nvSpPr>
        <p:spPr>
          <a:xfrm>
            <a:off x="7181850" y="2587563"/>
            <a:ext cx="4933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posterior distribution from inference network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70494C-5501-85BA-1081-69AFC2B8D0CB}"/>
              </a:ext>
            </a:extLst>
          </p:cNvPr>
          <p:cNvSpPr txBox="1"/>
          <p:nvPr/>
        </p:nvSpPr>
        <p:spPr>
          <a:xfrm>
            <a:off x="700996" y="333881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parameters </a:t>
            </a:r>
            <a:r>
              <a:rPr lang="el-GR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ϕ</a:t>
            </a:r>
            <a:r>
              <a:rPr lang="en-US" altLang="zh-CN" sz="2400" dirty="0"/>
              <a:t> for inference network are optimized based on: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755DF3-48DE-E162-A9F3-197D70879F56}"/>
              </a:ext>
            </a:extLst>
          </p:cNvPr>
          <p:cNvSpPr txBox="1"/>
          <p:nvPr/>
        </p:nvSpPr>
        <p:spPr>
          <a:xfrm>
            <a:off x="5819804" y="59285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Radev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2020)</a:t>
            </a:r>
            <a:endParaRPr lang="zh-CN" altLang="en-US" sz="20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826E1D-B6E8-04E2-B9AC-4B3361A75485}"/>
              </a:ext>
            </a:extLst>
          </p:cNvPr>
          <p:cNvSpPr/>
          <p:nvPr/>
        </p:nvSpPr>
        <p:spPr>
          <a:xfrm>
            <a:off x="3609975" y="1701738"/>
            <a:ext cx="1142996" cy="952500"/>
          </a:xfrm>
          <a:prstGeom prst="roundRect">
            <a:avLst/>
          </a:prstGeom>
          <a:noFill/>
          <a:ln w="28575">
            <a:solidFill>
              <a:srgbClr val="009A4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1534C89-8827-6C10-EB1E-E26F0B089234}"/>
              </a:ext>
            </a:extLst>
          </p:cNvPr>
          <p:cNvCxnSpPr>
            <a:cxnSpLocks/>
          </p:cNvCxnSpPr>
          <p:nvPr/>
        </p:nvCxnSpPr>
        <p:spPr>
          <a:xfrm flipH="1">
            <a:off x="3367088" y="2754250"/>
            <a:ext cx="404812" cy="233423"/>
          </a:xfrm>
          <a:prstGeom prst="straightConnector1">
            <a:avLst/>
          </a:prstGeom>
          <a:ln w="38100">
            <a:solidFill>
              <a:srgbClr val="009A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37B3D1B-3FD2-4D09-6D04-999980119810}"/>
              </a:ext>
            </a:extLst>
          </p:cNvPr>
          <p:cNvSpPr txBox="1"/>
          <p:nvPr/>
        </p:nvSpPr>
        <p:spPr>
          <a:xfrm>
            <a:off x="713330" y="2944597"/>
            <a:ext cx="3880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9A46"/>
                </a:solidFill>
              </a:rPr>
              <a:t>expectation based on distribution </a:t>
            </a:r>
            <a:r>
              <a:rPr lang="en-US" altLang="zh-CN" sz="2000" i="1" dirty="0">
                <a:solidFill>
                  <a:srgbClr val="009A46"/>
                </a:solidFill>
              </a:rPr>
              <a:t>p</a:t>
            </a:r>
            <a:endParaRPr lang="zh-CN" altLang="en-US" sz="2000" i="1" dirty="0">
              <a:solidFill>
                <a:srgbClr val="009A46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BD32515-E3C4-030A-74AA-9606E67A9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394" y="3836841"/>
            <a:ext cx="5929312" cy="2491791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65E7884-58E5-5AAB-D12D-A43BB0E18DD0}"/>
              </a:ext>
            </a:extLst>
          </p:cNvPr>
          <p:cNvSpPr/>
          <p:nvPr/>
        </p:nvSpPr>
        <p:spPr>
          <a:xfrm>
            <a:off x="4845843" y="4469273"/>
            <a:ext cx="797690" cy="460735"/>
          </a:xfrm>
          <a:prstGeom prst="roundRect">
            <a:avLst/>
          </a:prstGeom>
          <a:noFill/>
          <a:ln w="28575">
            <a:solidFill>
              <a:srgbClr val="009A4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A57335-4A61-75C7-248E-0A75A5312620}"/>
              </a:ext>
            </a:extLst>
          </p:cNvPr>
          <p:cNvSpPr txBox="1"/>
          <p:nvPr/>
        </p:nvSpPr>
        <p:spPr>
          <a:xfrm>
            <a:off x="8632060" y="4010025"/>
            <a:ext cx="30551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9A46"/>
                </a:solidFill>
              </a:rPr>
              <a:t>expectation based on the true posterior distribution </a:t>
            </a:r>
            <a:r>
              <a:rPr lang="en-US" altLang="zh-CN" sz="2000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2000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zh-CN" sz="2000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altLang="zh-CN" sz="2000" b="1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000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000" dirty="0">
              <a:solidFill>
                <a:srgbClr val="009A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4CDEA1-3A4D-85D0-F37B-71F1BEC106EB}"/>
              </a:ext>
            </a:extLst>
          </p:cNvPr>
          <p:cNvSpPr/>
          <p:nvPr/>
        </p:nvSpPr>
        <p:spPr>
          <a:xfrm>
            <a:off x="5629275" y="4337232"/>
            <a:ext cx="3009900" cy="158568"/>
          </a:xfrm>
          <a:custGeom>
            <a:avLst/>
            <a:gdLst>
              <a:gd name="connsiteX0" fmla="*/ 0 w 3009900"/>
              <a:gd name="connsiteY0" fmla="*/ 158568 h 158568"/>
              <a:gd name="connsiteX1" fmla="*/ 1219200 w 3009900"/>
              <a:gd name="connsiteY1" fmla="*/ 6168 h 158568"/>
              <a:gd name="connsiteX2" fmla="*/ 3009900 w 3009900"/>
              <a:gd name="connsiteY2" fmla="*/ 44268 h 15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9900" h="158568">
                <a:moveTo>
                  <a:pt x="0" y="158568"/>
                </a:moveTo>
                <a:cubicBezTo>
                  <a:pt x="358775" y="91893"/>
                  <a:pt x="717550" y="25218"/>
                  <a:pt x="1219200" y="6168"/>
                </a:cubicBezTo>
                <a:cubicBezTo>
                  <a:pt x="1720850" y="-12882"/>
                  <a:pt x="2365375" y="15693"/>
                  <a:pt x="3009900" y="44268"/>
                </a:cubicBezTo>
              </a:path>
            </a:pathLst>
          </a:custGeom>
          <a:noFill/>
          <a:ln w="28575">
            <a:solidFill>
              <a:srgbClr val="009A4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930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2EE4FD-B3B3-2B69-BE4C-00809BABD36F}"/>
              </a:ext>
            </a:extLst>
          </p:cNvPr>
          <p:cNvSpPr txBox="1"/>
          <p:nvPr/>
        </p:nvSpPr>
        <p:spPr>
          <a:xfrm>
            <a:off x="700996" y="81514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K-L divergence in </a:t>
            </a:r>
            <a:r>
              <a:rPr lang="en-US" altLang="zh-CN" sz="2400" i="1" dirty="0" err="1"/>
              <a:t>Bayesflow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ABE4EBA-A308-26D5-BBCB-6A350BA8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012" y="1620775"/>
            <a:ext cx="5629275" cy="1133475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9309035-0E68-5EB4-8D6F-05B8C643D09F}"/>
              </a:ext>
            </a:extLst>
          </p:cNvPr>
          <p:cNvCxnSpPr/>
          <p:nvPr/>
        </p:nvCxnSpPr>
        <p:spPr>
          <a:xfrm flipV="1">
            <a:off x="5553075" y="1620775"/>
            <a:ext cx="0" cy="4333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B7769AA-9C15-ACBB-4E58-504955E362CB}"/>
              </a:ext>
            </a:extLst>
          </p:cNvPr>
          <p:cNvSpPr txBox="1"/>
          <p:nvPr/>
        </p:nvSpPr>
        <p:spPr>
          <a:xfrm>
            <a:off x="4843800" y="1187327"/>
            <a:ext cx="2904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true posterior distribution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EA1C97C-48A7-B8FE-4FCC-A1ECD3A318BD}"/>
              </a:ext>
            </a:extLst>
          </p:cNvPr>
          <p:cNvCxnSpPr>
            <a:cxnSpLocks/>
          </p:cNvCxnSpPr>
          <p:nvPr/>
        </p:nvCxnSpPr>
        <p:spPr>
          <a:xfrm>
            <a:off x="6972300" y="2406588"/>
            <a:ext cx="419100" cy="18097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3039C7D-61F5-C9F9-5098-8E5B28B5EC6F}"/>
              </a:ext>
            </a:extLst>
          </p:cNvPr>
          <p:cNvSpPr txBox="1"/>
          <p:nvPr/>
        </p:nvSpPr>
        <p:spPr>
          <a:xfrm>
            <a:off x="7181850" y="2587563"/>
            <a:ext cx="4933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posterior distribution from inference network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70494C-5501-85BA-1081-69AFC2B8D0CB}"/>
              </a:ext>
            </a:extLst>
          </p:cNvPr>
          <p:cNvSpPr txBox="1"/>
          <p:nvPr/>
        </p:nvSpPr>
        <p:spPr>
          <a:xfrm>
            <a:off x="700996" y="333881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parameters </a:t>
            </a:r>
            <a:r>
              <a:rPr lang="el-GR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ϕ</a:t>
            </a:r>
            <a:r>
              <a:rPr lang="en-US" altLang="zh-CN" sz="2400" dirty="0"/>
              <a:t> for inference network are optimized based on: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755DF3-48DE-E162-A9F3-197D70879F56}"/>
              </a:ext>
            </a:extLst>
          </p:cNvPr>
          <p:cNvSpPr txBox="1"/>
          <p:nvPr/>
        </p:nvSpPr>
        <p:spPr>
          <a:xfrm>
            <a:off x="5819804" y="59285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</a:rPr>
              <a:t>Radev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et al., 2020)</a:t>
            </a:r>
            <a:endParaRPr lang="zh-CN" altLang="en-US" sz="20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BD32515-E3C4-030A-74AA-9606E67A9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394" y="3836841"/>
            <a:ext cx="5929312" cy="2491791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9761C00-D866-43CA-5A8D-23E5175DAE00}"/>
              </a:ext>
            </a:extLst>
          </p:cNvPr>
          <p:cNvSpPr/>
          <p:nvPr/>
        </p:nvSpPr>
        <p:spPr>
          <a:xfrm>
            <a:off x="5743575" y="4438650"/>
            <a:ext cx="1143000" cy="46073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B1B04DC-00FC-D790-8F17-DE4DAF348FAA}"/>
              </a:ext>
            </a:extLst>
          </p:cNvPr>
          <p:cNvSpPr/>
          <p:nvPr/>
        </p:nvSpPr>
        <p:spPr>
          <a:xfrm>
            <a:off x="6877050" y="4886325"/>
            <a:ext cx="1943100" cy="320747"/>
          </a:xfrm>
          <a:custGeom>
            <a:avLst/>
            <a:gdLst>
              <a:gd name="connsiteX0" fmla="*/ 0 w 1943100"/>
              <a:gd name="connsiteY0" fmla="*/ 0 h 320747"/>
              <a:gd name="connsiteX1" fmla="*/ 904875 w 1943100"/>
              <a:gd name="connsiteY1" fmla="*/ 295275 h 320747"/>
              <a:gd name="connsiteX2" fmla="*/ 1943100 w 1943100"/>
              <a:gd name="connsiteY2" fmla="*/ 285750 h 320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3100" h="320747">
                <a:moveTo>
                  <a:pt x="0" y="0"/>
                </a:moveTo>
                <a:cubicBezTo>
                  <a:pt x="290512" y="123825"/>
                  <a:pt x="581025" y="247650"/>
                  <a:pt x="904875" y="295275"/>
                </a:cubicBezTo>
                <a:cubicBezTo>
                  <a:pt x="1228725" y="342900"/>
                  <a:pt x="1585912" y="314325"/>
                  <a:pt x="1943100" y="28575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7A32AC3-C1C8-2FD6-277F-D7AAB9F43D96}"/>
              </a:ext>
            </a:extLst>
          </p:cNvPr>
          <p:cNvSpPr txBox="1"/>
          <p:nvPr/>
        </p:nvSpPr>
        <p:spPr>
          <a:xfrm>
            <a:off x="8820150" y="4669017"/>
            <a:ext cx="30551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dropped because it is unrelated to network parameters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7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63F8AA8-7CEB-7340-E1FC-CDC4F39C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9" y="1661813"/>
            <a:ext cx="5204365" cy="223720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B02827E-E843-C280-B0CB-6783C35792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4187" b="72628"/>
          <a:stretch/>
        </p:blipFill>
        <p:spPr>
          <a:xfrm>
            <a:off x="597694" y="984834"/>
            <a:ext cx="344646" cy="68204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A93D744-6D15-6FF6-0CE6-1FD140F7A7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13" t="49542" b="28670"/>
          <a:stretch/>
        </p:blipFill>
        <p:spPr>
          <a:xfrm>
            <a:off x="942340" y="1081354"/>
            <a:ext cx="5584666" cy="5429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3E62D0A-158A-B76F-16C5-06415F5B64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629"/>
          <a:stretch/>
        </p:blipFill>
        <p:spPr>
          <a:xfrm>
            <a:off x="597694" y="3899016"/>
            <a:ext cx="5929312" cy="682041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762CC27-A06D-D031-F683-E7D23D69CC58}"/>
              </a:ext>
            </a:extLst>
          </p:cNvPr>
          <p:cNvSpPr/>
          <p:nvPr/>
        </p:nvSpPr>
        <p:spPr>
          <a:xfrm>
            <a:off x="2066925" y="3835338"/>
            <a:ext cx="1142996" cy="769232"/>
          </a:xfrm>
          <a:prstGeom prst="roundRect">
            <a:avLst/>
          </a:prstGeom>
          <a:noFill/>
          <a:ln w="28575">
            <a:solidFill>
              <a:srgbClr val="009A4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4CDB527-3513-9475-B2DF-B307312AD5F7}"/>
              </a:ext>
            </a:extLst>
          </p:cNvPr>
          <p:cNvSpPr/>
          <p:nvPr/>
        </p:nvSpPr>
        <p:spPr>
          <a:xfrm>
            <a:off x="4514850" y="3835338"/>
            <a:ext cx="628650" cy="769232"/>
          </a:xfrm>
          <a:prstGeom prst="roundRect">
            <a:avLst/>
          </a:prstGeom>
          <a:noFill/>
          <a:ln w="28575">
            <a:solidFill>
              <a:srgbClr val="009A4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883B4E9-99F8-B34E-1C06-14515D2F9229}"/>
              </a:ext>
            </a:extLst>
          </p:cNvPr>
          <p:cNvCxnSpPr>
            <a:cxnSpLocks/>
          </p:cNvCxnSpPr>
          <p:nvPr/>
        </p:nvCxnSpPr>
        <p:spPr>
          <a:xfrm>
            <a:off x="2686050" y="4706348"/>
            <a:ext cx="285750" cy="257549"/>
          </a:xfrm>
          <a:prstGeom prst="straightConnector1">
            <a:avLst/>
          </a:prstGeom>
          <a:ln w="38100">
            <a:solidFill>
              <a:srgbClr val="009A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80E0B45-8E32-B858-FAF4-CDDEB86E7A2F}"/>
              </a:ext>
            </a:extLst>
          </p:cNvPr>
          <p:cNvSpPr txBox="1"/>
          <p:nvPr/>
        </p:nvSpPr>
        <p:spPr>
          <a:xfrm>
            <a:off x="1713455" y="4925797"/>
            <a:ext cx="4466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9A46"/>
                </a:solidFill>
              </a:rPr>
              <a:t>expectation based on distribution </a:t>
            </a:r>
            <a:r>
              <a:rPr lang="en-US" altLang="zh-CN" sz="2000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altLang="zh-CN" sz="2000" b="1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000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zh-CN" sz="2000" i="1" dirty="0">
                <a:solidFill>
                  <a:srgbClr val="009A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000" i="1" dirty="0">
              <a:solidFill>
                <a:srgbClr val="009A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0DFE681-A1DC-6D32-9030-1BEFA61A42CE}"/>
              </a:ext>
            </a:extLst>
          </p:cNvPr>
          <p:cNvCxnSpPr>
            <a:cxnSpLocks/>
          </p:cNvCxnSpPr>
          <p:nvPr/>
        </p:nvCxnSpPr>
        <p:spPr>
          <a:xfrm flipH="1">
            <a:off x="4514850" y="4714875"/>
            <a:ext cx="314325" cy="249022"/>
          </a:xfrm>
          <a:prstGeom prst="straightConnector1">
            <a:avLst/>
          </a:prstGeom>
          <a:ln w="38100">
            <a:solidFill>
              <a:srgbClr val="009A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53EFC32B-E80B-FCCF-668B-94E9B772C406}"/>
              </a:ext>
            </a:extLst>
          </p:cNvPr>
          <p:cNvSpPr txBox="1"/>
          <p:nvPr/>
        </p:nvSpPr>
        <p:spPr>
          <a:xfrm>
            <a:off x="7024052" y="1200148"/>
            <a:ext cx="4880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Equation given in the current paper: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86C7B4A2-D1C1-D651-9E7A-6CAB0B367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052" y="2166052"/>
            <a:ext cx="4319587" cy="614362"/>
          </a:xfrm>
          <a:prstGeom prst="rect">
            <a:avLst/>
          </a:prstGeom>
        </p:spPr>
      </p:pic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5E0234D-7EFD-09B8-28DF-CD46B3099ECD}"/>
              </a:ext>
            </a:extLst>
          </p:cNvPr>
          <p:cNvSpPr/>
          <p:nvPr/>
        </p:nvSpPr>
        <p:spPr>
          <a:xfrm>
            <a:off x="7600950" y="2139888"/>
            <a:ext cx="819150" cy="614362"/>
          </a:xfrm>
          <a:prstGeom prst="roundRect">
            <a:avLst/>
          </a:prstGeom>
          <a:noFill/>
          <a:ln w="28575">
            <a:solidFill>
              <a:srgbClr val="009A4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921884C-7536-3B08-BCF7-35B103352A9D}"/>
              </a:ext>
            </a:extLst>
          </p:cNvPr>
          <p:cNvSpPr/>
          <p:nvPr/>
        </p:nvSpPr>
        <p:spPr>
          <a:xfrm>
            <a:off x="9982200" y="2190750"/>
            <a:ext cx="1076325" cy="460735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D82178CD-D48E-E89A-94F5-E86CC19650C1}"/>
              </a:ext>
            </a:extLst>
          </p:cNvPr>
          <p:cNvCxnSpPr>
            <a:cxnSpLocks/>
          </p:cNvCxnSpPr>
          <p:nvPr/>
        </p:nvCxnSpPr>
        <p:spPr>
          <a:xfrm>
            <a:off x="10515600" y="2754250"/>
            <a:ext cx="0" cy="441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EF13297-7D27-3375-F813-9846308943A7}"/>
              </a:ext>
            </a:extLst>
          </p:cNvPr>
          <p:cNvSpPr txBox="1"/>
          <p:nvPr/>
        </p:nvSpPr>
        <p:spPr>
          <a:xfrm>
            <a:off x="7654628" y="3369701"/>
            <a:ext cx="4013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data transformed by the summary network </a:t>
            </a:r>
            <a:r>
              <a:rPr lang="en-US" altLang="zh-CN" sz="2000" b="1" i="1" dirty="0">
                <a:solidFill>
                  <a:srgbClr val="FF0000"/>
                </a:solidFill>
              </a:rPr>
              <a:t>h</a:t>
            </a:r>
            <a:r>
              <a:rPr lang="en-US" altLang="zh-CN" sz="2000" dirty="0">
                <a:solidFill>
                  <a:srgbClr val="FF0000"/>
                </a:solidFill>
              </a:rPr>
              <a:t> with parameters </a:t>
            </a:r>
            <a:r>
              <a:rPr lang="el-GR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Ψ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5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/>
      <p:bldP spid="38" grpId="0"/>
      <p:bldP spid="41" grpId="0" animBg="1"/>
      <p:bldP spid="42" grpId="0" animBg="1"/>
      <p:bldP spid="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0B120A-EE10-C587-755B-F5288053F1DF}"/>
              </a:ext>
            </a:extLst>
          </p:cNvPr>
          <p:cNvSpPr txBox="1"/>
          <p:nvPr/>
        </p:nvSpPr>
        <p:spPr>
          <a:xfrm>
            <a:off x="700996" y="110089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Model fitting to empirical data after training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0D5A30-D00E-23BA-29BD-66A2F3DF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898" y="1862137"/>
            <a:ext cx="3154703" cy="379598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885E4C3-D30F-7F5E-54BD-E7B168566BBD}"/>
              </a:ext>
            </a:extLst>
          </p:cNvPr>
          <p:cNvSpPr txBox="1"/>
          <p:nvPr/>
        </p:nvSpPr>
        <p:spPr>
          <a:xfrm>
            <a:off x="5618785" y="2523219"/>
            <a:ext cx="56873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200" dirty="0"/>
              <a:t>Inference on the entire dataset ( &gt; 1 million people) took approximately 24 hours on a machine without GPU acceleration!</a:t>
            </a:r>
            <a:endParaRPr lang="zh-CN" altLang="en-US" sz="22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137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0B120A-EE10-C587-755B-F5288053F1DF}"/>
              </a:ext>
            </a:extLst>
          </p:cNvPr>
          <p:cNvSpPr txBox="1"/>
          <p:nvPr/>
        </p:nvSpPr>
        <p:spPr>
          <a:xfrm>
            <a:off x="700996" y="110089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Model fitting to empirical data after training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198599-3679-FDDA-867E-7E90A410C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418" y="1581612"/>
            <a:ext cx="8965164" cy="51842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770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0B120A-EE10-C587-755B-F5288053F1DF}"/>
              </a:ext>
            </a:extLst>
          </p:cNvPr>
          <p:cNvSpPr txBox="1"/>
          <p:nvPr/>
        </p:nvSpPr>
        <p:spPr>
          <a:xfrm>
            <a:off x="700996" y="110089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After getting parameter estimates for each participant: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889428-914A-AD8D-320C-D8938EA50681}"/>
              </a:ext>
            </a:extLst>
          </p:cNvPr>
          <p:cNvSpPr txBox="1"/>
          <p:nvPr/>
        </p:nvSpPr>
        <p:spPr>
          <a:xfrm>
            <a:off x="853396" y="1815273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Fitting curves for the nonlinear relationships between age and the parameters (and also mean correct RT)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07880E-D944-DBC2-AA42-A6870B13DA5B}"/>
              </a:ext>
            </a:extLst>
          </p:cNvPr>
          <p:cNvSpPr txBox="1"/>
          <p:nvPr/>
        </p:nvSpPr>
        <p:spPr>
          <a:xfrm>
            <a:off x="700996" y="3037003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First step: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7B371C-ED4B-A7BB-4478-D1DA8756FC47}"/>
              </a:ext>
            </a:extLst>
          </p:cNvPr>
          <p:cNvSpPr txBox="1"/>
          <p:nvPr/>
        </p:nvSpPr>
        <p:spPr>
          <a:xfrm>
            <a:off x="853396" y="3705211"/>
            <a:ext cx="10738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linear Bayesian change-point regression on the age-group-averaged data using the R package </a:t>
            </a:r>
            <a:r>
              <a:rPr lang="en-US" altLang="zh-CN" sz="2400" i="1" dirty="0" err="1"/>
              <a:t>mcp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3821A0-65A0-CED6-D6AE-CA692AF6140B}"/>
              </a:ext>
            </a:extLst>
          </p:cNvPr>
          <p:cNvSpPr txBox="1"/>
          <p:nvPr/>
        </p:nvSpPr>
        <p:spPr>
          <a:xfrm>
            <a:off x="853395" y="4742052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ignores variability within an age group and focuses on </a:t>
            </a:r>
            <a:r>
              <a:rPr lang="en-US" altLang="zh-CN" sz="2400" b="1" u="sng" dirty="0"/>
              <a:t>change-point detection</a:t>
            </a:r>
            <a:endParaRPr lang="zh-CN" altLang="en-US" sz="2000" b="1" i="1" u="sn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680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50A2984-C2BB-C34C-BC27-12B88A4F8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139" y="2391089"/>
            <a:ext cx="5271516" cy="7924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0B120A-EE10-C587-755B-F5288053F1DF}"/>
              </a:ext>
            </a:extLst>
          </p:cNvPr>
          <p:cNvSpPr txBox="1"/>
          <p:nvPr/>
        </p:nvSpPr>
        <p:spPr>
          <a:xfrm>
            <a:off x="700996" y="100564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Priors over change points which reflect the trends visible in the data: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3E09C8-61E1-20DB-6233-72ED4586CC86}"/>
              </a:ext>
            </a:extLst>
          </p:cNvPr>
          <p:cNvSpPr txBox="1"/>
          <p:nvPr/>
        </p:nvSpPr>
        <p:spPr>
          <a:xfrm>
            <a:off x="948647" y="1929424"/>
            <a:ext cx="5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mean correct RT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B2A7C5F-E02C-F826-80C0-84DFA2AD9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46" y="2391089"/>
            <a:ext cx="5271516" cy="79248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9FC726F-76FF-E7ED-DB0F-736A0EC45711}"/>
              </a:ext>
            </a:extLst>
          </p:cNvPr>
          <p:cNvSpPr txBox="1"/>
          <p:nvPr/>
        </p:nvSpPr>
        <p:spPr>
          <a:xfrm>
            <a:off x="6467140" y="1929424"/>
            <a:ext cx="5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drift rate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29465B-06F9-5293-6E19-C30069C305DC}"/>
              </a:ext>
            </a:extLst>
          </p:cNvPr>
          <p:cNvSpPr txBox="1"/>
          <p:nvPr/>
        </p:nvSpPr>
        <p:spPr>
          <a:xfrm>
            <a:off x="948646" y="3645680"/>
            <a:ext cx="5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boundary separation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0404545-3202-22D3-A109-D334C8B58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45" y="4107345"/>
            <a:ext cx="5271516" cy="79248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7A3BDFA-3C46-2DA6-4DD7-2C367F320A1B}"/>
              </a:ext>
            </a:extLst>
          </p:cNvPr>
          <p:cNvSpPr txBox="1"/>
          <p:nvPr/>
        </p:nvSpPr>
        <p:spPr>
          <a:xfrm>
            <a:off x="6343651" y="3645680"/>
            <a:ext cx="52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non-decision time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FD45F25-AB50-1C97-E727-8C20B1A83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4107345"/>
            <a:ext cx="5271516" cy="39776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421381F-7AE0-BE87-207F-F633D45FA4C3}"/>
              </a:ext>
            </a:extLst>
          </p:cNvPr>
          <p:cNvSpPr txBox="1"/>
          <p:nvPr/>
        </p:nvSpPr>
        <p:spPr>
          <a:xfrm>
            <a:off x="700995" y="5244957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Use posterior means for change points to divide age span into segments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719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714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Methods</a:t>
            </a:r>
            <a:endParaRPr lang="zh-CN" altLang="en-US" sz="3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0B120A-EE10-C587-755B-F5288053F1DF}"/>
              </a:ext>
            </a:extLst>
          </p:cNvPr>
          <p:cNvSpPr txBox="1"/>
          <p:nvPr/>
        </p:nvSpPr>
        <p:spPr>
          <a:xfrm>
            <a:off x="700996" y="100564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Second step: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EFD3F9-8919-2077-0036-C58717F87EE9}"/>
              </a:ext>
            </a:extLst>
          </p:cNvPr>
          <p:cNvSpPr txBox="1"/>
          <p:nvPr/>
        </p:nvSpPr>
        <p:spPr>
          <a:xfrm>
            <a:off x="853396" y="1815273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Bayesian ridge regression separately for each segment with participant-level data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08D12B-76FF-909D-121D-2FE54B78FE38}"/>
              </a:ext>
            </a:extLst>
          </p:cNvPr>
          <p:cNvSpPr txBox="1"/>
          <p:nvPr/>
        </p:nvSpPr>
        <p:spPr>
          <a:xfrm>
            <a:off x="853396" y="2550930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default priors through the scikit-learn implementation in Python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A4BE9E-B487-9F9D-B3FC-ED48600D03B5}"/>
              </a:ext>
            </a:extLst>
          </p:cNvPr>
          <p:cNvSpPr txBox="1"/>
          <p:nvPr/>
        </p:nvSpPr>
        <p:spPr>
          <a:xfrm>
            <a:off x="1326810" y="3533775"/>
            <a:ext cx="948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疑问：根据我的了解，</a:t>
            </a:r>
            <a:r>
              <a:rPr lang="en-US" altLang="zh-CN" dirty="0">
                <a:solidFill>
                  <a:srgbClr val="FF0000"/>
                </a:solidFill>
              </a:rPr>
              <a:t>ridge regression</a:t>
            </a:r>
            <a:r>
              <a:rPr lang="zh-CN" altLang="en-US" dirty="0">
                <a:solidFill>
                  <a:srgbClr val="FF0000"/>
                </a:solidFill>
              </a:rPr>
              <a:t>可以在一定程度上克服多个自变量的共线性问题，但它给出的回归系数估计值不是无偏的。通常用于自变量较多的回归分析中。这里只有一个自变量</a:t>
            </a:r>
            <a:r>
              <a:rPr lang="en-US" altLang="zh-CN" dirty="0">
                <a:solidFill>
                  <a:srgbClr val="FF0000"/>
                </a:solidFill>
              </a:rPr>
              <a:t>age</a:t>
            </a:r>
            <a:r>
              <a:rPr lang="zh-CN" altLang="en-US" dirty="0">
                <a:solidFill>
                  <a:srgbClr val="FF0000"/>
                </a:solidFill>
              </a:rPr>
              <a:t>，为何要使用</a:t>
            </a:r>
            <a:r>
              <a:rPr lang="en-US" altLang="zh-CN" dirty="0">
                <a:solidFill>
                  <a:srgbClr val="FF0000"/>
                </a:solidFill>
              </a:rPr>
              <a:t>ridge regression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891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080CD7-F5F5-FC00-1DA8-6780CC031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2525"/>
            <a:ext cx="6515100" cy="48006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FA4FD5B-A187-C571-92C5-115550B2E232}"/>
              </a:ext>
            </a:extLst>
          </p:cNvPr>
          <p:cNvSpPr txBox="1"/>
          <p:nvPr/>
        </p:nvSpPr>
        <p:spPr>
          <a:xfrm>
            <a:off x="6515100" y="838812"/>
            <a:ext cx="533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Mean correct RT </a:t>
            </a:r>
            <a:r>
              <a:rPr lang="en-US" altLang="zh-CN" sz="2000" dirty="0"/>
              <a:t>(incongruent condition)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E5C010-88E7-B9F7-F791-24C986A9CEE3}"/>
              </a:ext>
            </a:extLst>
          </p:cNvPr>
          <p:cNvSpPr txBox="1"/>
          <p:nvPr/>
        </p:nvSpPr>
        <p:spPr>
          <a:xfrm>
            <a:off x="6768422" y="1609559"/>
            <a:ext cx="533785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decrease from 10 to 20 years (change point: 19), </a:t>
            </a:r>
            <a:r>
              <a:rPr lang="en-US" altLang="zh-CN" sz="2000" dirty="0"/>
              <a:t>b = −0.024, 95% HDI (−0.025, −0.023)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95914C-D224-2FC9-D9F9-D6C28BE62740}"/>
              </a:ext>
            </a:extLst>
          </p:cNvPr>
          <p:cNvSpPr txBox="1"/>
          <p:nvPr/>
        </p:nvSpPr>
        <p:spPr>
          <a:xfrm>
            <a:off x="6768422" y="3057414"/>
            <a:ext cx="53378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increase after that (change point: 62), </a:t>
            </a:r>
            <a:r>
              <a:rPr lang="en-US" altLang="zh-CN" sz="2000" dirty="0"/>
              <a:t>b = 0.006, 95% HDI (0.006, 0.006)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43E9F3-E417-C623-FBB0-6C5C2B13EB58}"/>
              </a:ext>
            </a:extLst>
          </p:cNvPr>
          <p:cNvSpPr txBox="1"/>
          <p:nvPr/>
        </p:nvSpPr>
        <p:spPr>
          <a:xfrm>
            <a:off x="6768422" y="4135937"/>
            <a:ext cx="53378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increase in RT then accelerates, </a:t>
            </a:r>
            <a:r>
              <a:rPr lang="en-US" altLang="zh-CN" sz="2000" dirty="0"/>
              <a:t>b = 0.022, 95% HDI (0.021, 0.023)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37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A4FD5B-A187-C571-92C5-115550B2E232}"/>
              </a:ext>
            </a:extLst>
          </p:cNvPr>
          <p:cNvSpPr txBox="1"/>
          <p:nvPr/>
        </p:nvSpPr>
        <p:spPr>
          <a:xfrm>
            <a:off x="6515100" y="838812"/>
            <a:ext cx="533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Drift rate </a:t>
            </a:r>
            <a:r>
              <a:rPr lang="en-US" altLang="zh-CN" sz="2000" dirty="0"/>
              <a:t>(incongruent condition)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E5C010-88E7-B9F7-F791-24C986A9CEE3}"/>
              </a:ext>
            </a:extLst>
          </p:cNvPr>
          <p:cNvSpPr txBox="1"/>
          <p:nvPr/>
        </p:nvSpPr>
        <p:spPr>
          <a:xfrm>
            <a:off x="6768422" y="1609559"/>
            <a:ext cx="5337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increase from 10 to 30 (change point: 24), </a:t>
            </a:r>
            <a:r>
              <a:rPr lang="en-US" altLang="zh-CN" sz="2000" dirty="0"/>
              <a:t>b = 0.034, 95% HDI (0.033, 0.034)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95914C-D224-2FC9-D9F9-D6C28BE62740}"/>
              </a:ext>
            </a:extLst>
          </p:cNvPr>
          <p:cNvSpPr txBox="1"/>
          <p:nvPr/>
        </p:nvSpPr>
        <p:spPr>
          <a:xfrm>
            <a:off x="6768422" y="2903526"/>
            <a:ext cx="5337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remain stable until 60 (change point: 60), </a:t>
            </a:r>
            <a:r>
              <a:rPr lang="en-US" altLang="zh-CN" sz="2000" dirty="0"/>
              <a:t>b &lt; 0.001, 95% HDI (-0.001, 0.000)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43E9F3-E417-C623-FBB0-6C5C2B13EB58}"/>
              </a:ext>
            </a:extLst>
          </p:cNvPr>
          <p:cNvSpPr txBox="1"/>
          <p:nvPr/>
        </p:nvSpPr>
        <p:spPr>
          <a:xfrm>
            <a:off x="6768422" y="4135937"/>
            <a:ext cx="53378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then decrease, </a:t>
            </a:r>
            <a:r>
              <a:rPr lang="en-US" altLang="zh-CN" sz="2000" dirty="0"/>
              <a:t>b = -0.020, 95% HDI (-0.021, -0.018)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19B394-2E18-7E05-6748-D4FEFB509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1216393"/>
            <a:ext cx="6429375" cy="4743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436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285FB9-0AE8-B56F-B8D4-25D13E29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" y="1178293"/>
            <a:ext cx="6334125" cy="47815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A4FD5B-A187-C571-92C5-115550B2E232}"/>
              </a:ext>
            </a:extLst>
          </p:cNvPr>
          <p:cNvSpPr txBox="1"/>
          <p:nvPr/>
        </p:nvSpPr>
        <p:spPr>
          <a:xfrm>
            <a:off x="6515100" y="838812"/>
            <a:ext cx="533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Boundary separation </a:t>
            </a:r>
            <a:r>
              <a:rPr lang="en-US" altLang="zh-CN" sz="2000" dirty="0"/>
              <a:t>(incongruent condition)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BA2621-0DBB-06BB-DE97-644E8DAB9C80}"/>
              </a:ext>
            </a:extLst>
          </p:cNvPr>
          <p:cNvSpPr txBox="1"/>
          <p:nvPr/>
        </p:nvSpPr>
        <p:spPr>
          <a:xfrm>
            <a:off x="6768422" y="1609559"/>
            <a:ext cx="5337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decrease from 10 to 20 (change point: 18), </a:t>
            </a:r>
            <a:r>
              <a:rPr lang="en-US" altLang="zh-CN" sz="2000" dirty="0"/>
              <a:t>b = −0.025, 95% HDI (−0.026, −0.023)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6FCFD3-CD91-41D6-63FB-0B23B542E19A}"/>
              </a:ext>
            </a:extLst>
          </p:cNvPr>
          <p:cNvSpPr txBox="1"/>
          <p:nvPr/>
        </p:nvSpPr>
        <p:spPr>
          <a:xfrm>
            <a:off x="6768422" y="2903526"/>
            <a:ext cx="53378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increase after that (change point: 65), </a:t>
            </a:r>
            <a:r>
              <a:rPr lang="en-US" altLang="zh-CN" sz="2000" dirty="0"/>
              <a:t>b = 0.011, 95% HDI (0.011, 0.011)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CC4F75-A79D-D676-D4B4-5D09B2E9C200}"/>
              </a:ext>
            </a:extLst>
          </p:cNvPr>
          <p:cNvSpPr txBox="1"/>
          <p:nvPr/>
        </p:nvSpPr>
        <p:spPr>
          <a:xfrm>
            <a:off x="6768422" y="4135937"/>
            <a:ext cx="53378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increase then accelerates, </a:t>
            </a:r>
            <a:r>
              <a:rPr lang="en-US" altLang="zh-CN" sz="2000" dirty="0"/>
              <a:t>b = 0.021, 95% HDI (0.018, 0.023)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28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FB04E20-F8ED-33CF-4E5A-E7A76175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64" y="1165412"/>
            <a:ext cx="7583786" cy="28160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B1A7F08-143F-325D-88EB-43F729CC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250" y="1165412"/>
            <a:ext cx="3905577" cy="281603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37F84D7-2210-93B0-FC9B-B19E282B7B04}"/>
              </a:ext>
            </a:extLst>
          </p:cNvPr>
          <p:cNvSpPr txBox="1"/>
          <p:nvPr/>
        </p:nvSpPr>
        <p:spPr>
          <a:xfrm>
            <a:off x="828675" y="4334392"/>
            <a:ext cx="533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Similar results for congruent condition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601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F574F7-A29A-1A70-B496-52AAF6B6F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8" y="1178293"/>
            <a:ext cx="6305550" cy="4848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644496-4452-0CD9-FB6D-829B4A063E50}"/>
              </a:ext>
            </a:extLst>
          </p:cNvPr>
          <p:cNvSpPr txBox="1"/>
          <p:nvPr/>
        </p:nvSpPr>
        <p:spPr>
          <a:xfrm>
            <a:off x="6515100" y="838812"/>
            <a:ext cx="533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Non-decision time </a:t>
            </a:r>
            <a:r>
              <a:rPr lang="en-US" altLang="zh-CN" sz="2000" dirty="0"/>
              <a:t>(correct response)</a:t>
            </a:r>
            <a:r>
              <a:rPr lang="en-US" altLang="zh-CN" sz="2400" dirty="0"/>
              <a:t>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7FDA3D-9B8F-1843-4751-1207E723AD9A}"/>
              </a:ext>
            </a:extLst>
          </p:cNvPr>
          <p:cNvSpPr txBox="1"/>
          <p:nvPr/>
        </p:nvSpPr>
        <p:spPr>
          <a:xfrm>
            <a:off x="6768422" y="1609559"/>
            <a:ext cx="5337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decrease from 10 to 15 (change point: 15), </a:t>
            </a:r>
            <a:r>
              <a:rPr lang="en-US" altLang="zh-CN" sz="2000" dirty="0"/>
              <a:t>b = −0.006, 95% HDI (−0.008, −0.005)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8E298C-2788-9283-4E34-A7CC9CF5893F}"/>
              </a:ext>
            </a:extLst>
          </p:cNvPr>
          <p:cNvSpPr txBox="1"/>
          <p:nvPr/>
        </p:nvSpPr>
        <p:spPr>
          <a:xfrm>
            <a:off x="6768422" y="2903526"/>
            <a:ext cx="53378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increase after that, </a:t>
            </a:r>
            <a:r>
              <a:rPr lang="en-US" altLang="zh-CN" sz="2000" dirty="0"/>
              <a:t>b = 0.002, 95% HDI (0.002, 0.002)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8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019F38-F51A-7733-CBFE-28BD6B8C6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" y="1300477"/>
            <a:ext cx="6400800" cy="47910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F70264A-8F6A-9B56-DC39-0883530001BA}"/>
              </a:ext>
            </a:extLst>
          </p:cNvPr>
          <p:cNvSpPr txBox="1"/>
          <p:nvPr/>
        </p:nvSpPr>
        <p:spPr>
          <a:xfrm>
            <a:off x="6515100" y="2058012"/>
            <a:ext cx="5337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Similar results for non-decision time in incorrect trials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312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48C709-7519-B95C-7058-50D9B0CB7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862" y="2400300"/>
            <a:ext cx="5248275" cy="38671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6359C6-3B10-7A7E-4AF2-62831ABD1A11}"/>
              </a:ext>
            </a:extLst>
          </p:cNvPr>
          <p:cNvSpPr txBox="1"/>
          <p:nvPr/>
        </p:nvSpPr>
        <p:spPr>
          <a:xfrm>
            <a:off x="624796" y="948498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Variability in the mean correct RTs increases across the lifespan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3F3FC4-6635-A873-67FF-CE42DE9C850D}"/>
              </a:ext>
            </a:extLst>
          </p:cNvPr>
          <p:cNvSpPr txBox="1"/>
          <p:nvPr/>
        </p:nvSpPr>
        <p:spPr>
          <a:xfrm>
            <a:off x="815296" y="1564861"/>
            <a:ext cx="10738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correlation between age and SD in mean correct RT: </a:t>
            </a:r>
            <a:r>
              <a:rPr lang="pt-BR" altLang="zh-CN" sz="2000" dirty="0"/>
              <a:t>r=0.78; 95% HDI (0.70, 0.85)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385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A10259-C02A-FC30-DE51-B09117A25942}"/>
              </a:ext>
            </a:extLst>
          </p:cNvPr>
          <p:cNvSpPr txBox="1"/>
          <p:nvPr/>
        </p:nvSpPr>
        <p:spPr>
          <a:xfrm>
            <a:off x="529547" y="922154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Age-related variability increase is also found for: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04F54E-3234-9A0E-172A-D82EC7A0CFB8}"/>
              </a:ext>
            </a:extLst>
          </p:cNvPr>
          <p:cNvSpPr txBox="1"/>
          <p:nvPr/>
        </p:nvSpPr>
        <p:spPr>
          <a:xfrm>
            <a:off x="720046" y="1574712"/>
            <a:ext cx="1048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correct non-decision time, </a:t>
            </a:r>
            <a:r>
              <a:rPr lang="pt-BR" altLang="zh-CN" sz="2000" dirty="0"/>
              <a:t>r=0.75; 95% HDI (0.67, 0.83)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990345-2175-17C8-CBFF-AB8291FD40C9}"/>
              </a:ext>
            </a:extLst>
          </p:cNvPr>
          <p:cNvSpPr txBox="1"/>
          <p:nvPr/>
        </p:nvSpPr>
        <p:spPr>
          <a:xfrm>
            <a:off x="720046" y="2227271"/>
            <a:ext cx="1048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error non-decision time, </a:t>
            </a:r>
            <a:r>
              <a:rPr lang="pt-BR" altLang="zh-CN" sz="2000" dirty="0"/>
              <a:t>r=0.92; 95% HDI (0.90, 0.95)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4E2693-AE8D-1F5D-2D9F-CA66D1A221D7}"/>
              </a:ext>
            </a:extLst>
          </p:cNvPr>
          <p:cNvSpPr txBox="1"/>
          <p:nvPr/>
        </p:nvSpPr>
        <p:spPr>
          <a:xfrm>
            <a:off x="720046" y="2873585"/>
            <a:ext cx="1048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incongruent boundary separation, </a:t>
            </a:r>
            <a:r>
              <a:rPr lang="pt-BR" altLang="zh-CN" sz="2000" dirty="0"/>
              <a:t>r=0.48; 95% HDI (0.33, 0.63)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B49A7E-A3B9-4739-33FB-E5C1F42216BA}"/>
              </a:ext>
            </a:extLst>
          </p:cNvPr>
          <p:cNvSpPr txBox="1"/>
          <p:nvPr/>
        </p:nvSpPr>
        <p:spPr>
          <a:xfrm>
            <a:off x="720046" y="3519899"/>
            <a:ext cx="1048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congruent boundary separation, </a:t>
            </a:r>
            <a:r>
              <a:rPr lang="pt-BR" altLang="zh-CN" sz="2000" dirty="0"/>
              <a:t>r=0.90; 95% HDI (0.87, 0.94)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489B69-6D79-85A7-81D9-FC10657904AA}"/>
              </a:ext>
            </a:extLst>
          </p:cNvPr>
          <p:cNvSpPr txBox="1"/>
          <p:nvPr/>
        </p:nvSpPr>
        <p:spPr>
          <a:xfrm>
            <a:off x="529547" y="4399896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No clear patter of age-related variability increase for </a:t>
            </a:r>
            <a:r>
              <a:rPr lang="en-US" altLang="zh-CN" sz="2400" b="1" dirty="0"/>
              <a:t>drift rate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B7743B-246F-5D3A-A640-D353FC2AA662}"/>
              </a:ext>
            </a:extLst>
          </p:cNvPr>
          <p:cNvSpPr txBox="1"/>
          <p:nvPr/>
        </p:nvSpPr>
        <p:spPr>
          <a:xfrm>
            <a:off x="720046" y="5052454"/>
            <a:ext cx="1048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incongruent, </a:t>
            </a:r>
            <a:r>
              <a:rPr lang="pt-BR" altLang="zh-CN" sz="2000" dirty="0"/>
              <a:t>r=0.17; 95% HDI (0.00, 0.34)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467F8A-9270-9C26-7A91-B03452F9961C}"/>
              </a:ext>
            </a:extLst>
          </p:cNvPr>
          <p:cNvSpPr txBox="1"/>
          <p:nvPr/>
        </p:nvSpPr>
        <p:spPr>
          <a:xfrm>
            <a:off x="720046" y="5705013"/>
            <a:ext cx="1048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congruent, </a:t>
            </a:r>
            <a:r>
              <a:rPr lang="pt-BR" altLang="zh-CN" sz="2000" dirty="0"/>
              <a:t>r=-0.56; 95% HDI (-0.67, 0.42)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51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Results</a:t>
            </a:r>
            <a:endParaRPr lang="zh-CN" altLang="en-US" sz="3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173119-9519-27AF-CA61-6AFD8E4949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333"/>
          <a:stretch/>
        </p:blipFill>
        <p:spPr>
          <a:xfrm>
            <a:off x="3657600" y="428625"/>
            <a:ext cx="8534400" cy="30003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6A66A7C-DBF2-12C7-8D7B-FF10EE12C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780"/>
          <a:stretch/>
        </p:blipFill>
        <p:spPr>
          <a:xfrm>
            <a:off x="3657600" y="3429000"/>
            <a:ext cx="8534400" cy="316453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05160F2-A093-8DDF-5A41-5BDB364E406B}"/>
              </a:ext>
            </a:extLst>
          </p:cNvPr>
          <p:cNvSpPr txBox="1"/>
          <p:nvPr/>
        </p:nvSpPr>
        <p:spPr>
          <a:xfrm>
            <a:off x="344839" y="1582341"/>
            <a:ext cx="3446111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Mean-level pattern for drift rate is robust across: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gender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levels of education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/>
              <a:t>experimental condition</a:t>
            </a:r>
            <a:endParaRPr lang="zh-CN" alt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123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Discussion</a:t>
            </a:r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6C41BA-D52A-9E7E-0E2B-B4B1E6F3CB64}"/>
              </a:ext>
            </a:extLst>
          </p:cNvPr>
          <p:cNvSpPr txBox="1"/>
          <p:nvPr/>
        </p:nvSpPr>
        <p:spPr>
          <a:xfrm>
            <a:off x="634322" y="1207904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Our results replicate the age-related decline in mean RTs previously reported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EB4299-DC76-7806-D64E-7584550532BF}"/>
              </a:ext>
            </a:extLst>
          </p:cNvPr>
          <p:cNvSpPr txBox="1"/>
          <p:nvPr/>
        </p:nvSpPr>
        <p:spPr>
          <a:xfrm>
            <a:off x="634322" y="2452986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Boundary separation declines from 10 to approximately 18, and then increase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14CD7E-D517-5C46-5CCB-16F44362552B}"/>
              </a:ext>
            </a:extLst>
          </p:cNvPr>
          <p:cNvSpPr txBox="1"/>
          <p:nvPr/>
        </p:nvSpPr>
        <p:spPr>
          <a:xfrm>
            <a:off x="786722" y="3106030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people at college age were the least cautious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5B433C-95A2-E36D-7D34-678BD30425C8}"/>
              </a:ext>
            </a:extLst>
          </p:cNvPr>
          <p:cNvSpPr txBox="1"/>
          <p:nvPr/>
        </p:nvSpPr>
        <p:spPr>
          <a:xfrm>
            <a:off x="634321" y="4436552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Non-decision time were fastest around age 14 to 16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926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Discussion</a:t>
            </a:r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6C41BA-D52A-9E7E-0E2B-B4B1E6F3CB64}"/>
              </a:ext>
            </a:extLst>
          </p:cNvPr>
          <p:cNvSpPr txBox="1"/>
          <p:nvPr/>
        </p:nvSpPr>
        <p:spPr>
          <a:xfrm>
            <a:off x="634322" y="979304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Remarkable finding about drift rate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022842-63F7-3051-5641-85D67C95AA5F}"/>
              </a:ext>
            </a:extLst>
          </p:cNvPr>
          <p:cNvSpPr txBox="1"/>
          <p:nvPr/>
        </p:nvSpPr>
        <p:spPr>
          <a:xfrm>
            <a:off x="786722" y="1722103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still increase between 20 and 30 (in contrast to results about mean RT)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F2E205-424B-A0D6-6188-121149135351}"/>
              </a:ext>
            </a:extLst>
          </p:cNvPr>
          <p:cNvSpPr txBox="1"/>
          <p:nvPr/>
        </p:nvSpPr>
        <p:spPr>
          <a:xfrm>
            <a:off x="786722" y="2464902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remain roughly stable across all of middle adulthood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1C86F6-1E02-B9BE-D4AC-26C5B8E7B305}"/>
              </a:ext>
            </a:extLst>
          </p:cNvPr>
          <p:cNvSpPr txBox="1"/>
          <p:nvPr/>
        </p:nvSpPr>
        <p:spPr>
          <a:xfrm>
            <a:off x="634322" y="3515935"/>
            <a:ext cx="10671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Age-related increase of RTs in early and middle adulthood can be attributed exclusively to decision caution and non-decision time, </a:t>
            </a:r>
            <a:r>
              <a:rPr lang="en-US" altLang="zh-CN" sz="2400" b="1" u="sng" dirty="0"/>
              <a:t>not to mental speed</a:t>
            </a:r>
            <a:endParaRPr lang="zh-CN" altLang="en-US" sz="2000" b="1" i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A6769D-4BAB-FA56-F243-3BEF37D5B2C2}"/>
              </a:ext>
            </a:extLst>
          </p:cNvPr>
          <p:cNvSpPr txBox="1"/>
          <p:nvPr/>
        </p:nvSpPr>
        <p:spPr>
          <a:xfrm>
            <a:off x="786722" y="4628794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mental speed decline starts much later than has typically been assumed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73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Discussion</a:t>
            </a:r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6C41BA-D52A-9E7E-0E2B-B4B1E6F3CB64}"/>
              </a:ext>
            </a:extLst>
          </p:cNvPr>
          <p:cNvSpPr txBox="1"/>
          <p:nvPr/>
        </p:nvSpPr>
        <p:spPr>
          <a:xfrm>
            <a:off x="634322" y="1503179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Greater spread (variability) in mean RTs for older people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022842-63F7-3051-5641-85D67C95AA5F}"/>
              </a:ext>
            </a:extLst>
          </p:cNvPr>
          <p:cNvSpPr txBox="1"/>
          <p:nvPr/>
        </p:nvSpPr>
        <p:spPr>
          <a:xfrm>
            <a:off x="786722" y="2245978"/>
            <a:ext cx="10671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attributable to greater inter-individual differences in non-decision processes or decision caution, not in mental speed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056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Discussion</a:t>
            </a:r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6C41BA-D52A-9E7E-0E2B-B4B1E6F3CB64}"/>
              </a:ext>
            </a:extLst>
          </p:cNvPr>
          <p:cNvSpPr txBox="1"/>
          <p:nvPr/>
        </p:nvSpPr>
        <p:spPr>
          <a:xfrm>
            <a:off x="634322" y="1341254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Scaffolding theory of aging and cognition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DFF8C2-DEC0-45BC-2E17-EB8788515949}"/>
              </a:ext>
            </a:extLst>
          </p:cNvPr>
          <p:cNvSpPr txBox="1"/>
          <p:nvPr/>
        </p:nvSpPr>
        <p:spPr>
          <a:xfrm>
            <a:off x="5819804" y="463092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(Reuter-Lorenz &amp; Park, 2014)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04AB25-CC0E-7A76-B6CC-2568583EE903}"/>
              </a:ext>
            </a:extLst>
          </p:cNvPr>
          <p:cNvSpPr txBox="1"/>
          <p:nvPr/>
        </p:nvSpPr>
        <p:spPr>
          <a:xfrm>
            <a:off x="786722" y="2032737"/>
            <a:ext cx="10671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people may use </a:t>
            </a:r>
            <a:r>
              <a:rPr lang="en-US" altLang="zh-CN" sz="2400" u="sng" dirty="0"/>
              <a:t>compensatory techniques</a:t>
            </a:r>
            <a:r>
              <a:rPr lang="en-US" altLang="zh-CN" sz="2400" dirty="0"/>
              <a:t> </a:t>
            </a:r>
            <a:r>
              <a:rPr lang="en-US" altLang="zh-CN" sz="2000" dirty="0"/>
              <a:t>(e.g., activation of additional neural networks)</a:t>
            </a:r>
            <a:r>
              <a:rPr lang="en-US" altLang="zh-CN" sz="2400" dirty="0"/>
              <a:t> to counter the detrimental effects of age-related changes in brain structure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74D20D-581F-2BCC-D558-90B8B248AE2E}"/>
              </a:ext>
            </a:extLst>
          </p:cNvPr>
          <p:cNvSpPr txBox="1"/>
          <p:nvPr/>
        </p:nvSpPr>
        <p:spPr>
          <a:xfrm>
            <a:off x="786722" y="3240816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well suited to keeping high level mental speed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504C37-DA33-D2EA-82B6-FFFEADA351CF}"/>
              </a:ext>
            </a:extLst>
          </p:cNvPr>
          <p:cNvSpPr txBox="1"/>
          <p:nvPr/>
        </p:nvSpPr>
        <p:spPr>
          <a:xfrm>
            <a:off x="786722" y="4079563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more basal processes (captured by </a:t>
            </a:r>
            <a:r>
              <a:rPr lang="en-US" altLang="zh-CN" sz="2400" u="sng" dirty="0"/>
              <a:t>non-decision time</a:t>
            </a:r>
            <a:r>
              <a:rPr lang="en-US" altLang="zh-CN" sz="2400" dirty="0"/>
              <a:t>) might be less adaptable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71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Discussion</a:t>
            </a:r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6C41BA-D52A-9E7E-0E2B-B4B1E6F3CB64}"/>
              </a:ext>
            </a:extLst>
          </p:cNvPr>
          <p:cNvSpPr txBox="1"/>
          <p:nvPr/>
        </p:nvSpPr>
        <p:spPr>
          <a:xfrm>
            <a:off x="634322" y="946520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Our study presents an example of using DM to analyze IAT data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04AB25-CC0E-7A76-B6CC-2568583EE903}"/>
              </a:ext>
            </a:extLst>
          </p:cNvPr>
          <p:cNvSpPr txBox="1"/>
          <p:nvPr/>
        </p:nvSpPr>
        <p:spPr>
          <a:xfrm>
            <a:off x="786722" y="1611953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notable difference in drift rate between conditions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0ED9B8-AAFB-2E62-231C-77C2ECA70D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711"/>
          <a:stretch/>
        </p:blipFill>
        <p:spPr>
          <a:xfrm>
            <a:off x="6122648" y="3499037"/>
            <a:ext cx="3813825" cy="28160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F5C85C-F2B0-9A9F-4636-89B1E57C8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328" y="3499035"/>
            <a:ext cx="3816920" cy="28160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5AFB8DD-1D44-0738-FD16-D0A0223A8E4C}"/>
              </a:ext>
            </a:extLst>
          </p:cNvPr>
          <p:cNvSpPr txBox="1"/>
          <p:nvPr/>
        </p:nvSpPr>
        <p:spPr>
          <a:xfrm>
            <a:off x="786722" y="2277386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drift rate may reflect association strength in IAT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367227-843C-4A5E-C24B-24CFF8A97131}"/>
              </a:ext>
            </a:extLst>
          </p:cNvPr>
          <p:cNvSpPr txBox="1"/>
          <p:nvPr/>
        </p:nvSpPr>
        <p:spPr>
          <a:xfrm>
            <a:off x="3449519" y="3244334"/>
            <a:ext cx="1471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incongruent</a:t>
            </a:r>
            <a:endParaRPr lang="zh-CN" altLang="en-US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51F0E8-0217-183C-3844-60CF87C788DA}"/>
              </a:ext>
            </a:extLst>
          </p:cNvPr>
          <p:cNvSpPr txBox="1"/>
          <p:nvPr/>
        </p:nvSpPr>
        <p:spPr>
          <a:xfrm>
            <a:off x="7293031" y="3246179"/>
            <a:ext cx="1271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congruent</a:t>
            </a:r>
            <a:endParaRPr lang="zh-CN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41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54DDEF-3652-4270-8884-A40581361B93}"/>
              </a:ext>
            </a:extLst>
          </p:cNvPr>
          <p:cNvSpPr txBox="1"/>
          <p:nvPr/>
        </p:nvSpPr>
        <p:spPr>
          <a:xfrm>
            <a:off x="278164" y="111162"/>
            <a:ext cx="1967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Discussion</a:t>
            </a:r>
            <a:endParaRPr lang="zh-CN" altLang="en-US" sz="3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6C41BA-D52A-9E7E-0E2B-B4B1E6F3CB64}"/>
              </a:ext>
            </a:extLst>
          </p:cNvPr>
          <p:cNvSpPr txBox="1"/>
          <p:nvPr/>
        </p:nvSpPr>
        <p:spPr>
          <a:xfrm>
            <a:off x="634322" y="1175120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Limitation of the current study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04AB25-CC0E-7A76-B6CC-2568583EE903}"/>
              </a:ext>
            </a:extLst>
          </p:cNvPr>
          <p:cNvSpPr txBox="1"/>
          <p:nvPr/>
        </p:nvSpPr>
        <p:spPr>
          <a:xfrm>
            <a:off x="786722" y="2026487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only one particular decision-making task (race IAT)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AFB8DD-1D44-0738-FD16-D0A0223A8E4C}"/>
              </a:ext>
            </a:extLst>
          </p:cNvPr>
          <p:cNvSpPr txBox="1"/>
          <p:nvPr/>
        </p:nvSpPr>
        <p:spPr>
          <a:xfrm>
            <a:off x="786722" y="2967335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cross-sectional nature of our findings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9B3443-AC94-A36E-BAE3-7F5C3E1D7E92}"/>
              </a:ext>
            </a:extLst>
          </p:cNvPr>
          <p:cNvSpPr txBox="1"/>
          <p:nvPr/>
        </p:nvSpPr>
        <p:spPr>
          <a:xfrm>
            <a:off x="786721" y="3908183"/>
            <a:ext cx="1067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trial numbers for each person were quite low</a:t>
            </a:r>
            <a:endParaRPr lang="zh-CN" altLang="en-US" sz="2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177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5.6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9412</TotalTime>
  <Words>2269</Words>
  <Application>Microsoft Office PowerPoint</Application>
  <PresentationFormat>宽屏</PresentationFormat>
  <Paragraphs>263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回顾</vt:lpstr>
      <vt:lpstr>Mental speed is high until age 60 as revealed by analysis of over a million participants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第一PPT模板网-WWW.1PPT.COM</dc:creator>
  <dc:description>第一PPT模板网-WWW.1PPT.COM</dc:description>
  <cp:lastModifiedBy>Xiao Hu</cp:lastModifiedBy>
  <cp:revision>2892</cp:revision>
  <dcterms:created xsi:type="dcterms:W3CDTF">2015-02-19T23:46:49Z</dcterms:created>
  <dcterms:modified xsi:type="dcterms:W3CDTF">2022-08-09T11:54:26Z</dcterms:modified>
</cp:coreProperties>
</file>